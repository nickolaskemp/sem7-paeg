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  <p:sldMasterId id="2147483656" r:id="rId2"/>
  </p:sldMasterIdLst>
  <p:notesMasterIdLst>
    <p:notesMasterId r:id="rId35"/>
  </p:notesMasterIdLst>
  <p:handoutMasterIdLst>
    <p:handoutMasterId r:id="rId36"/>
  </p:handoutMasterIdLst>
  <p:sldIdLst>
    <p:sldId id="256" r:id="rId3"/>
    <p:sldId id="257" r:id="rId4"/>
    <p:sldId id="281" r:id="rId5"/>
    <p:sldId id="258" r:id="rId6"/>
    <p:sldId id="280" r:id="rId7"/>
    <p:sldId id="259" r:id="rId8"/>
    <p:sldId id="282" r:id="rId9"/>
    <p:sldId id="260" r:id="rId10"/>
    <p:sldId id="261" r:id="rId11"/>
    <p:sldId id="262" r:id="rId12"/>
    <p:sldId id="263" r:id="rId13"/>
    <p:sldId id="265" r:id="rId14"/>
    <p:sldId id="266" r:id="rId15"/>
    <p:sldId id="272" r:id="rId16"/>
    <p:sldId id="283" r:id="rId17"/>
    <p:sldId id="264" r:id="rId18"/>
    <p:sldId id="267" r:id="rId19"/>
    <p:sldId id="268" r:id="rId20"/>
    <p:sldId id="269" r:id="rId21"/>
    <p:sldId id="270" r:id="rId22"/>
    <p:sldId id="273" r:id="rId23"/>
    <p:sldId id="271" r:id="rId24"/>
    <p:sldId id="274" r:id="rId25"/>
    <p:sldId id="275" r:id="rId26"/>
    <p:sldId id="276" r:id="rId27"/>
    <p:sldId id="277" r:id="rId28"/>
    <p:sldId id="278" r:id="rId29"/>
    <p:sldId id="285" r:id="rId30"/>
    <p:sldId id="286" r:id="rId31"/>
    <p:sldId id="287" r:id="rId32"/>
    <p:sldId id="284" r:id="rId33"/>
    <p:sldId id="279" r:id="rId3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</p:showPr>
  <p:clrMru>
    <a:srgbClr val="3822DC"/>
    <a:srgbClr val="1C7E21"/>
    <a:srgbClr val="FF3300"/>
    <a:srgbClr val="229A28"/>
    <a:srgbClr val="D04202"/>
    <a:srgbClr val="CACF03"/>
    <a:srgbClr val="CD4C19"/>
    <a:srgbClr val="154B27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86" autoAdjust="0"/>
  </p:normalViewPr>
  <p:slideViewPr>
    <p:cSldViewPr>
      <p:cViewPr>
        <p:scale>
          <a:sx n="90" d="100"/>
          <a:sy n="90" d="100"/>
        </p:scale>
        <p:origin x="-972" y="-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0F5D4C9-0A23-4076-AFE3-A6904E479A48}" type="datetime1">
              <a:rPr lang="ru-RU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1C4BBD8-D1CE-4FBC-8F39-CBEB6381F0E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5FC88E-4DDA-46AC-8A6C-EF488B101881}" type="datetime1">
              <a:rPr lang="ru-RU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31E11A-031D-40B6-A340-F48DFC46BE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A26CAE9C-40CA-4B63-BAE5-591E9588265A}" type="datetime1">
              <a:rPr lang="ru-RU" smtClean="0"/>
              <a:pPr/>
              <a:t>29.01.2026</a:t>
            </a:fld>
            <a:endParaRPr lang="ru-RU" smtClean="0"/>
          </a:p>
        </p:txBody>
      </p:sp>
      <p:sp>
        <p:nvSpPr>
          <p:cNvPr id="337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EC4B87-5C73-49DE-8D3F-9C0ECA455F35}" type="slidenum">
              <a:rPr lang="ru-RU" smtClean="0"/>
              <a:pPr/>
              <a:t>1</a:t>
            </a:fld>
            <a:endParaRPr lang="ru-RU" smtClean="0"/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uk-UA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uk-UA" smtClean="0"/>
          </a:p>
        </p:txBody>
      </p:sp>
      <p:sp>
        <p:nvSpPr>
          <p:cNvPr id="34820" name="Дата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820B312F-F0D0-4AF5-87F9-17C17BE8B03C}" type="datetime1">
              <a:rPr lang="ru-RU" smtClean="0"/>
              <a:pPr/>
              <a:t>29.01.2026</a:t>
            </a:fld>
            <a:endParaRPr lang="ru-RU" smtClean="0"/>
          </a:p>
        </p:txBody>
      </p:sp>
      <p:sp>
        <p:nvSpPr>
          <p:cNvPr id="34821" name="Номер слайда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70C544-69E1-4894-A09B-28FC99D2122D}" type="slidenum">
              <a:rPr lang="ru-RU" smtClean="0"/>
              <a:pPr/>
              <a:t>4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DFA5F-6969-4732-9915-C8CCE0663621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F300E-1EFE-4C16-A711-4FE8BF685FD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8C89A-50CE-49BC-B617-E5A8A7580E01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C3822-C498-41AA-A81D-BC5D854DEB5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7E90F-4351-46EA-AF1C-D5A83EFD3D8F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D632A-0DF9-4B0A-96E0-367698834CD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54420-7FC1-40D8-A902-A4611C566503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26254-63CD-4A64-A38B-3A099E59DE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D35BC-E220-4E9A-AB98-EBAB67618B00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82FCB1-6282-40CB-AB45-2F31388BCEC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EC150F-2244-4520-AE36-186A482EF21B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B05AB-03A4-49A8-81C9-BE5940EF64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B6C1F-4A70-46F1-9BF9-1AE64D8F5BBD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DF902-CEB2-498C-AD8B-4EB0E873A9C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8E958-CCD2-44A9-BE89-D961A9752E6C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356D-854F-4A92-BC23-3D0A0639F87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uk-UA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7B0A1-D6FE-4D2E-BD17-0F4A1E5A3A30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7E683-7D3E-4264-9403-97DB94A3DBD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7DCF7-DEC5-401C-B4B8-BF59883AA7FA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5E418-FFD9-469E-8822-9FAC5B30702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AA55A-87EA-458F-AAE1-092E381B16A4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E1A52-DE67-4D82-9DAE-DB4ABA3E7B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5156C-BC05-4E1E-98BA-8CAE610F5B39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35116-3422-47E2-B21F-5D4767292B4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uk-UA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28BB6-A593-40ED-9843-877BB7C9107C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A0EF7-29DB-4208-AE53-B6FCB795618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uk-U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E38DB-FA66-4218-9C39-3765E3796A67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145AE-DC10-4556-BC2A-2DF4F3CE85D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128DBF-F2F8-461B-8908-71DB36A0D1FE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3A2E4-B308-4254-A8E1-10A260539B7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E8413-A28F-42D3-8F78-56B4F5E3DEC5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9B6AA-DF56-4936-8A36-DF46A5E1B5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E4DF5-844E-4A7A-9CC3-8F920C7958BF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4341D7-B5E3-415E-8008-EBCD13292F8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51850-CBE5-4EBC-843C-D59EAF672CB1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D909D-FB18-4764-AA29-2AB32184C33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04941-7459-4758-9B3E-0CEA8FC14CD3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BCD3AE-9C08-4578-A2B5-4CB44FA8AC9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67345-8D47-4C4C-B83E-83FCC8D42ED0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6AB51-7D03-4CA7-B098-BAF030BFCB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E3FCD6-F908-4471-9EE4-B1681BA196EB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D9F00-9912-4293-991E-2214BAA477B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uk-UA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242FE-9E89-4EE5-9944-726946E8914C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61A1D-47D1-4615-B835-F8F59C316C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B2309-27A6-4488-B224-20DD569E2123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AAD61-B997-4D6C-AE63-17647584A70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uk-U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75891-B504-4FE4-8B0F-648E815123A7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8B418-232D-41AD-99D5-D1ED0203E70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9EE4A832-497F-4B39-96A5-F9F7C03AB8AE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4381DC1-7C5F-4982-AC19-705A5A0033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7DAF0C4E-1A1C-409E-9B9A-33EA69BCAA07}" type="datetime1">
              <a:rPr lang="uk-UA"/>
              <a:pPr>
                <a:defRPr/>
              </a:pPr>
              <a:t>29.01.2026</a:t>
            </a:fld>
            <a:endParaRPr lang="ru-RU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ru-RU"/>
              <a:t>ФІОТ, кафедра ІСТ, к.т.н., доц. Полторак В.П.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363361A-C2DF-4D7C-B69B-2826AF385D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ela.kpi.ua/handle/123456789/38326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71550" y="1160463"/>
            <a:ext cx="7704138" cy="1470025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 smtClean="0">
                <a:solidFill>
                  <a:srgbClr val="1D653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Арифметика на </a:t>
            </a:r>
            <a:r>
              <a:rPr lang="ru-RU" dirty="0" err="1" smtClean="0">
                <a:solidFill>
                  <a:srgbClr val="1D653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скінченних</a:t>
            </a:r>
            <a:r>
              <a:rPr lang="ru-RU" dirty="0" smtClean="0">
                <a:solidFill>
                  <a:srgbClr val="1D653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pitchFamily="66" charset="0"/>
              </a:rPr>
              <a:t>алфавітах</a:t>
            </a:r>
            <a:r>
              <a:rPr lang="ru-RU" dirty="0" smtClean="0">
                <a:solidFill>
                  <a:srgbClr val="1D6535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307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68425" y="3213100"/>
            <a:ext cx="7019925" cy="2736850"/>
          </a:xfrm>
        </p:spPr>
        <p:txBody>
          <a:bodyPr/>
          <a:lstStyle/>
          <a:p>
            <a:pPr eaLnBrk="1" hangingPunct="1"/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b="1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b="1" dirty="0" smtClean="0">
                <a:solidFill>
                  <a:srgbClr val="154B27"/>
                </a:solidFill>
                <a:latin typeface="Comic Sans MS" pitchFamily="66" charset="0"/>
              </a:rPr>
              <a:t>)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endParaRPr lang="en-US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endParaRPr lang="ru-RU" sz="24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algn="l" eaLnBrk="1" hangingPunct="1"/>
            <a:r>
              <a:rPr lang="ru-RU" sz="2400" dirty="0" smtClean="0">
                <a:solidFill>
                  <a:srgbClr val="154B27"/>
                </a:solidFill>
                <a:latin typeface="Comic Sans MS" pitchFamily="66" charset="0"/>
              </a:rPr>
              <a:t>Полторак В.П., к.т.н., доцент кафедри ІСТ, </a:t>
            </a:r>
          </a:p>
          <a:p>
            <a:pPr algn="l" eaLnBrk="1" hangingPunct="1"/>
            <a:endParaRPr lang="ru-RU" sz="24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uk-UA" sz="2400" dirty="0" smtClean="0">
                <a:solidFill>
                  <a:srgbClr val="154B27"/>
                </a:solidFill>
                <a:latin typeface="Comic Sans MS" pitchFamily="66" charset="0"/>
              </a:rPr>
              <a:t>НТУУ КПІ ім. Ігоря Сікорського</a:t>
            </a:r>
          </a:p>
          <a:p>
            <a:pPr eaLnBrk="1" hangingPunct="1"/>
            <a:r>
              <a:rPr lang="uk-UA" sz="2400" dirty="0" smtClean="0">
                <a:solidFill>
                  <a:srgbClr val="154B27"/>
                </a:solidFill>
                <a:latin typeface="Comic Sans MS" pitchFamily="66" charset="0"/>
              </a:rPr>
              <a:t>Київ - 2025</a:t>
            </a:r>
            <a:endParaRPr lang="ru-RU" sz="24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grpSp>
        <p:nvGrpSpPr>
          <p:cNvPr id="3076" name="Group 27"/>
          <p:cNvGrpSpPr>
            <a:grpSpLocks/>
          </p:cNvGrpSpPr>
          <p:nvPr/>
        </p:nvGrpSpPr>
        <p:grpSpPr bwMode="auto">
          <a:xfrm>
            <a:off x="1008063" y="1665288"/>
            <a:ext cx="7343775" cy="2160587"/>
            <a:chOff x="612" y="1525"/>
            <a:chExt cx="4626" cy="1361"/>
          </a:xfrm>
        </p:grpSpPr>
        <p:sp>
          <p:nvSpPr>
            <p:cNvPr id="3077" name="Line 11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078" name="Line 14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8F7247B6-543D-432A-80E7-0DD886C708E3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409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447925" y="6245225"/>
            <a:ext cx="4860925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410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8BE2F8-7524-489E-A558-5F82C68DEBB0}" type="slidenum">
              <a:rPr lang="ru-RU" smtClean="0"/>
              <a:pPr/>
              <a:t>2</a:t>
            </a:fld>
            <a:endParaRPr lang="ru-RU" smtClean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8078"/>
          </a:xfrm>
        </p:spPr>
        <p:txBody>
          <a:bodyPr/>
          <a:lstStyle/>
          <a:p>
            <a:pPr eaLnBrk="1" hangingPunct="1"/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)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50825" y="1844675"/>
            <a:ext cx="8750300" cy="4281488"/>
          </a:xfrm>
        </p:spPr>
        <p:txBody>
          <a:bodyPr/>
          <a:lstStyle/>
          <a:p>
            <a:pPr eaLnBrk="1" hangingPunct="1"/>
            <a:r>
              <a:rPr lang="ru-RU" sz="3000" u="sng" dirty="0" err="1" smtClean="0">
                <a:solidFill>
                  <a:srgbClr val="154B27"/>
                </a:solidFill>
                <a:latin typeface="Comic Sans MS" pitchFamily="66" charset="0"/>
              </a:rPr>
              <a:t>Скінченним</a:t>
            </a:r>
            <a:r>
              <a:rPr lang="ru-RU" sz="3000" u="sng" dirty="0" smtClean="0">
                <a:solidFill>
                  <a:srgbClr val="154B27"/>
                </a:solidFill>
                <a:latin typeface="Comic Sans MS" pitchFamily="66" charset="0"/>
              </a:rPr>
              <a:t> полем </a:t>
            </a:r>
            <a:r>
              <a:rPr lang="en-US" sz="3000" b="1" u="sng" dirty="0" smtClean="0">
                <a:solidFill>
                  <a:srgbClr val="154B27"/>
                </a:solidFill>
                <a:latin typeface="Comic Sans MS" pitchFamily="66" charset="0"/>
              </a:rPr>
              <a:t>GF(p)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називають сукупність множини </a:t>
            </a:r>
            <a:r>
              <a:rPr lang="en-US" sz="3000" dirty="0" err="1" smtClean="0">
                <a:solidFill>
                  <a:srgbClr val="0070C0"/>
                </a:solidFill>
                <a:latin typeface="Comic Sans MS" pitchFamily="66" charset="0"/>
              </a:rPr>
              <a:t>A</a:t>
            </a:r>
            <a:r>
              <a:rPr lang="en-US" sz="3000" baseline="-25000" dirty="0" err="1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елементів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і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з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заданими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на них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арифметичними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операціями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рядом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додаткових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умов.</a:t>
            </a:r>
          </a:p>
          <a:p>
            <a:pPr eaLnBrk="1" hangingPunct="1"/>
            <a:r>
              <a:rPr lang="ru-RU" sz="3000" u="sng" dirty="0" err="1" smtClean="0">
                <a:solidFill>
                  <a:srgbClr val="154B27"/>
                </a:solidFill>
                <a:latin typeface="Comic Sans MS" pitchFamily="66" charset="0"/>
              </a:rPr>
              <a:t>Множина</a:t>
            </a:r>
            <a:r>
              <a:rPr lang="ru-RU" sz="3000" u="sng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err="1" smtClean="0">
                <a:solidFill>
                  <a:srgbClr val="0070C0"/>
                </a:solidFill>
                <a:latin typeface="Comic Sans MS" pitchFamily="66" charset="0"/>
              </a:rPr>
              <a:t>A</a:t>
            </a:r>
            <a:r>
              <a:rPr lang="en-US" sz="3000" baseline="-25000" dirty="0" err="1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елементів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err="1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en-US" sz="3000" baseline="-25000" dirty="0" err="1" smtClean="0">
                <a:solidFill>
                  <a:srgbClr val="154B27"/>
                </a:solidFill>
                <a:latin typeface="Comic Sans MS" pitchFamily="66" charset="0"/>
              </a:rPr>
              <a:t>i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en-US" sz="3000" i="1" dirty="0" err="1" smtClean="0">
                <a:solidFill>
                  <a:srgbClr val="154B27"/>
                </a:solidFill>
                <a:latin typeface="Comic Sans MS" pitchFamily="66" charset="0"/>
              </a:rPr>
              <a:t>i</a:t>
            </a:r>
            <a:r>
              <a:rPr lang="en-US" sz="3000" i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=0, 1, 2, …(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-1),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де </a:t>
            </a:r>
            <a:r>
              <a:rPr lang="en-US" sz="3000" i="1" dirty="0" smtClean="0">
                <a:solidFill>
                  <a:srgbClr val="C00000"/>
                </a:solidFill>
                <a:latin typeface="Comic Sans MS" pitchFamily="66" charset="0"/>
              </a:rPr>
              <a:t>p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простим числом (один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з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dirty="0" err="1" smtClean="0">
                <a:solidFill>
                  <a:srgbClr val="154B27"/>
                </a:solidFill>
                <a:latin typeface="Comic Sans MS" pitchFamily="66" charset="0"/>
              </a:rPr>
              <a:t>випадкі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в).</a:t>
            </a:r>
            <a:endParaRPr lang="uk-UA" sz="30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Дві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прямі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замкнені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: «+», та «*».</a:t>
            </a:r>
          </a:p>
          <a:p>
            <a:pPr lvl="2" eaLnBrk="1" hangingPunct="1"/>
            <a:r>
              <a:rPr lang="ru-RU" sz="2200" dirty="0" err="1" smtClean="0">
                <a:solidFill>
                  <a:srgbClr val="154B27"/>
                </a:solidFill>
                <a:latin typeface="Comic Sans MS" pitchFamily="66" charset="0"/>
              </a:rPr>
              <a:t>Умовна</a:t>
            </a:r>
            <a:r>
              <a:rPr lang="ru-RU" sz="2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200" dirty="0" err="1" smtClean="0">
                <a:solidFill>
                  <a:srgbClr val="154B27"/>
                </a:solidFill>
                <a:latin typeface="Comic Sans MS" pitchFamily="66" charset="0"/>
              </a:rPr>
              <a:t>назва</a:t>
            </a:r>
            <a:r>
              <a:rPr lang="ru-RU" sz="2200" dirty="0" smtClean="0">
                <a:solidFill>
                  <a:srgbClr val="154B27"/>
                </a:solidFill>
                <a:latin typeface="Comic Sans MS" pitchFamily="66" charset="0"/>
              </a:rPr>
              <a:t>: </a:t>
            </a:r>
            <a:r>
              <a:rPr lang="ru-RU" sz="2200" dirty="0" err="1" smtClean="0">
                <a:solidFill>
                  <a:srgbClr val="154B27"/>
                </a:solidFill>
                <a:latin typeface="Comic Sans MS" pitchFamily="66" charset="0"/>
              </a:rPr>
              <a:t>додавання</a:t>
            </a:r>
            <a:r>
              <a:rPr lang="ru-RU" sz="2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200" dirty="0" err="1" smtClean="0">
                <a:solidFill>
                  <a:srgbClr val="154B27"/>
                </a:solidFill>
                <a:latin typeface="Comic Sans MS" pitchFamily="66" charset="0"/>
              </a:rPr>
              <a:t>і</a:t>
            </a:r>
            <a:r>
              <a:rPr lang="ru-RU" sz="2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200" dirty="0" err="1" smtClean="0">
                <a:solidFill>
                  <a:srgbClr val="154B27"/>
                </a:solidFill>
                <a:latin typeface="Comic Sans MS" pitchFamily="66" charset="0"/>
              </a:rPr>
              <a:t>множення</a:t>
            </a:r>
            <a:r>
              <a:rPr lang="ru-RU" sz="22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lvl="2" eaLnBrk="1" hangingPunct="1"/>
            <a:endParaRPr lang="ru-RU" sz="22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</a:p>
        </p:txBody>
      </p:sp>
      <p:grpSp>
        <p:nvGrpSpPr>
          <p:cNvPr id="4103" name="Group 7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4104" name="Line 8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4105" name="Line 9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467544" y="296652"/>
            <a:ext cx="8229600" cy="598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154B27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Скінченне</a:t>
            </a:r>
            <a:r>
              <a:rPr kumimoji="0" lang="ru-RU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154B27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 поле Галуа  </a:t>
            </a: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154B27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GF</a:t>
            </a:r>
            <a:r>
              <a:rPr kumimoji="0" lang="ru-RU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154B27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(</a:t>
            </a: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154B27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p</a:t>
            </a:r>
            <a:r>
              <a:rPr kumimoji="0" lang="ru-RU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154B27"/>
                </a:solidFill>
                <a:effectLst/>
                <a:uLnTx/>
                <a:uFillTx/>
                <a:latin typeface="Comic Sans MS" pitchFamily="66" charset="0"/>
                <a:ea typeface="+mj-ea"/>
                <a:cs typeface="+mj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B69E6DA-DD18-4A30-A93D-9772D26B308C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5123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24075" y="6337300"/>
            <a:ext cx="5219700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51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E61D92-41B0-490B-BD76-4882E72D262C}" type="slidenum">
              <a:rPr lang="ru-RU" smtClean="0"/>
              <a:pPr/>
              <a:t>3</a:t>
            </a:fld>
            <a:endParaRPr lang="ru-RU" smtClean="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8078"/>
          </a:xfrm>
        </p:spPr>
        <p:txBody>
          <a:bodyPr/>
          <a:lstStyle/>
          <a:p>
            <a:pPr lvl="0" eaLnBrk="1" hangingPunct="1">
              <a:defRPr/>
            </a:pP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  <a:ea typeface="+mn-ea"/>
                <a:cs typeface="+mn-cs"/>
              </a:rPr>
              <a:t>Скінченне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  <a:ea typeface="+mn-ea"/>
                <a:cs typeface="+mn-cs"/>
              </a:rPr>
              <a:t> поле Галуа 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ea typeface="+mn-ea"/>
                <a:cs typeface="+mn-cs"/>
              </a:rPr>
              <a:t>GF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  <a:ea typeface="+mn-ea"/>
                <a:cs typeface="+mn-cs"/>
              </a:rPr>
              <a:t>(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ea typeface="+mn-ea"/>
                <a:cs typeface="+mn-cs"/>
              </a:rPr>
              <a:t>p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  <a:ea typeface="+mn-ea"/>
                <a:cs typeface="+mn-cs"/>
              </a:rPr>
              <a:t>)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44675"/>
            <a:ext cx="8229600" cy="4281488"/>
          </a:xfrm>
        </p:spPr>
        <p:txBody>
          <a:bodyPr/>
          <a:lstStyle/>
          <a:p>
            <a:pPr eaLnBrk="1" hangingPunct="1"/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Два </a:t>
            </a:r>
            <a:r>
              <a:rPr lang="ru-RU" sz="3000" u="sng" dirty="0" err="1" smtClean="0">
                <a:solidFill>
                  <a:srgbClr val="154B27"/>
                </a:solidFill>
                <a:latin typeface="Comic Sans MS" pitchFamily="66" charset="0"/>
              </a:rPr>
              <a:t>особливих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елементи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: «0» и «1».</a:t>
            </a:r>
            <a:endParaRPr lang="en-US" sz="30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Наявність обернених елементів в </a:t>
            </a:r>
            <a:r>
              <a:rPr lang="uk-UA" sz="3000" dirty="0" err="1" smtClean="0">
                <a:solidFill>
                  <a:srgbClr val="3822DC"/>
                </a:solidFill>
                <a:latin typeface="Comic Sans MS" pitchFamily="66" charset="0"/>
              </a:rPr>
              <a:t>A</a:t>
            </a:r>
            <a:r>
              <a:rPr lang="uk-UA" sz="3000" baseline="-25000" dirty="0" err="1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endParaRPr lang="uk-UA" sz="3000" dirty="0" smtClean="0">
              <a:solidFill>
                <a:srgbClr val="3822DC"/>
              </a:solidFill>
              <a:latin typeface="Comic Sans MS" pitchFamily="66" charset="0"/>
            </a:endParaRPr>
          </a:p>
          <a:p>
            <a:pPr lvl="1" eaLnBrk="1" hangingPunct="1"/>
            <a:r>
              <a:rPr lang="uk-UA" sz="2600" dirty="0" smtClean="0">
                <a:solidFill>
                  <a:srgbClr val="154B27"/>
                </a:solidFill>
                <a:latin typeface="Comic Sans MS" pitchFamily="66" charset="0"/>
              </a:rPr>
              <a:t>Для кожного </a:t>
            </a:r>
            <a:r>
              <a:rPr lang="uk-UA" sz="2600" dirty="0" err="1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uk-UA" sz="2600" baseline="-25000" dirty="0" err="1" smtClean="0">
                <a:solidFill>
                  <a:srgbClr val="154B27"/>
                </a:solidFill>
                <a:latin typeface="Comic Sans MS" pitchFamily="66" charset="0"/>
              </a:rPr>
              <a:t>i</a:t>
            </a:r>
            <a:r>
              <a:rPr lang="uk-UA" sz="26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2600" dirty="0" smtClean="0">
                <a:solidFill>
                  <a:srgbClr val="154B27"/>
                </a:solidFill>
                <a:latin typeface="Calibri" pitchFamily="34" charset="0"/>
              </a:rPr>
              <a:t>ϵ </a:t>
            </a:r>
            <a:r>
              <a:rPr lang="uk-UA" sz="2400" b="1" dirty="0" err="1" smtClean="0">
                <a:solidFill>
                  <a:srgbClr val="3822DC"/>
                </a:solidFill>
                <a:latin typeface="Comic Sans MS" pitchFamily="66" charset="0"/>
              </a:rPr>
              <a:t>A</a:t>
            </a:r>
            <a:r>
              <a:rPr lang="uk-UA" sz="2400" b="1" baseline="-25000" dirty="0" err="1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r>
              <a:rPr lang="uk-UA" sz="24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2600" dirty="0" smtClean="0">
                <a:solidFill>
                  <a:srgbClr val="154B27"/>
                </a:solidFill>
                <a:latin typeface="Comic Sans MS" pitchFamily="66" charset="0"/>
              </a:rPr>
              <a:t>існує обернений за «+» .</a:t>
            </a:r>
          </a:p>
          <a:p>
            <a:pPr lvl="1" eaLnBrk="1" hangingPunct="1"/>
            <a:r>
              <a:rPr lang="uk-UA" sz="2600" dirty="0" smtClean="0">
                <a:solidFill>
                  <a:srgbClr val="154B27"/>
                </a:solidFill>
                <a:latin typeface="Comic Sans MS" pitchFamily="66" charset="0"/>
              </a:rPr>
              <a:t>Для </a:t>
            </a:r>
            <a:r>
              <a:rPr lang="uk-UA" sz="2600" dirty="0" err="1" smtClean="0">
                <a:solidFill>
                  <a:srgbClr val="154B27"/>
                </a:solidFill>
                <a:latin typeface="Comic Sans MS" pitchFamily="66" charset="0"/>
              </a:rPr>
              <a:t>кожн</a:t>
            </a:r>
            <a:r>
              <a:rPr lang="uk-UA" sz="2600" dirty="0" smtClean="0">
                <a:solidFill>
                  <a:srgbClr val="154B27"/>
                </a:solidFill>
                <a:latin typeface="Comic Sans MS" pitchFamily="66" charset="0"/>
              </a:rPr>
              <a:t>. </a:t>
            </a:r>
            <a:r>
              <a:rPr lang="uk-UA" sz="2600" dirty="0" err="1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uk-UA" sz="2600" baseline="-25000" dirty="0" err="1" smtClean="0">
                <a:solidFill>
                  <a:srgbClr val="154B27"/>
                </a:solidFill>
                <a:latin typeface="Comic Sans MS" pitchFamily="66" charset="0"/>
              </a:rPr>
              <a:t>i</a:t>
            </a:r>
            <a:r>
              <a:rPr lang="uk-UA" sz="26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2600" dirty="0" smtClean="0">
                <a:solidFill>
                  <a:srgbClr val="154B27"/>
                </a:solidFill>
                <a:latin typeface="Calibri" pitchFamily="34" charset="0"/>
              </a:rPr>
              <a:t>ϵ </a:t>
            </a:r>
            <a:r>
              <a:rPr lang="uk-UA" sz="2400" b="1" dirty="0" err="1" smtClean="0">
                <a:solidFill>
                  <a:srgbClr val="3822DC"/>
                </a:solidFill>
                <a:latin typeface="Comic Sans MS" pitchFamily="66" charset="0"/>
              </a:rPr>
              <a:t>A</a:t>
            </a:r>
            <a:r>
              <a:rPr lang="uk-UA" sz="2400" b="1" baseline="-25000" dirty="0" err="1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r>
              <a:rPr lang="uk-UA" sz="24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26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uk-UA" sz="2600" dirty="0" err="1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uk-UA" sz="2600" baseline="-25000" dirty="0" err="1" smtClean="0">
                <a:solidFill>
                  <a:srgbClr val="154B27"/>
                </a:solidFill>
                <a:latin typeface="Comic Sans MS" pitchFamily="66" charset="0"/>
              </a:rPr>
              <a:t>i</a:t>
            </a:r>
            <a:r>
              <a:rPr lang="uk-UA" sz="26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2600" dirty="0" smtClean="0">
                <a:solidFill>
                  <a:srgbClr val="154B27"/>
                </a:solidFill>
                <a:latin typeface="Calibri" pitchFamily="34" charset="0"/>
              </a:rPr>
              <a:t>≠ 0,</a:t>
            </a:r>
            <a:r>
              <a:rPr lang="uk-UA" sz="2600" dirty="0" smtClean="0">
                <a:solidFill>
                  <a:srgbClr val="154B27"/>
                </a:solidFill>
                <a:latin typeface="Comic Sans MS" pitchFamily="66" charset="0"/>
              </a:rPr>
              <a:t> існує обернений за «*» </a:t>
            </a:r>
          </a:p>
          <a:p>
            <a:pPr lvl="1" eaLnBrk="1" hangingPunct="1">
              <a:buFontTx/>
              <a:buNone/>
            </a:pPr>
            <a:endParaRPr lang="uk-UA" sz="26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У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GF(p)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визначена процедура для виконання </a:t>
            </a:r>
            <a:r>
              <a:rPr lang="uk-UA" sz="2800" dirty="0" smtClean="0">
                <a:solidFill>
                  <a:srgbClr val="154B27"/>
                </a:solidFill>
                <a:latin typeface="Comic Sans MS" pitchFamily="66" charset="0"/>
              </a:rPr>
              <a:t>обернени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х операцій над елементами </a:t>
            </a:r>
            <a:r>
              <a:rPr lang="uk-UA" sz="3000" dirty="0" err="1" smtClean="0">
                <a:solidFill>
                  <a:srgbClr val="3822DC"/>
                </a:solidFill>
                <a:latin typeface="Comic Sans MS" pitchFamily="66" charset="0"/>
              </a:rPr>
              <a:t>A</a:t>
            </a:r>
            <a:r>
              <a:rPr lang="uk-UA" sz="3000" baseline="-25000" dirty="0" err="1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r>
              <a:rPr lang="uk-UA" sz="30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через </a:t>
            </a:r>
            <a:r>
              <a:rPr lang="uk-UA" sz="2800" dirty="0" smtClean="0">
                <a:solidFill>
                  <a:srgbClr val="154B27"/>
                </a:solidFill>
                <a:latin typeface="Comic Sans MS" pitchFamily="66" charset="0"/>
              </a:rPr>
              <a:t>обернені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елементи.</a:t>
            </a:r>
          </a:p>
          <a:p>
            <a:pPr eaLnBrk="1" hangingPunct="1"/>
            <a:endParaRPr lang="uk-UA" dirty="0" smtClean="0"/>
          </a:p>
        </p:txBody>
      </p:sp>
      <p:grpSp>
        <p:nvGrpSpPr>
          <p:cNvPr id="5127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5128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5129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FEB24D2-1FEB-42BB-9E6E-4C7894CE9FC3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6147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087563" y="6245225"/>
            <a:ext cx="5040312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6148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B2A636B-5502-4FEA-B240-6C83CF17B875}" type="slidenum">
              <a:rPr lang="ru-RU" smtClean="0"/>
              <a:pPr/>
              <a:t>4</a:t>
            </a:fld>
            <a:endParaRPr lang="ru-RU" smtClean="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86110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b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                 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Елементи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скінченного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поля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84313"/>
            <a:ext cx="8351837" cy="4670425"/>
          </a:xfrm>
        </p:spPr>
        <p:txBody>
          <a:bodyPr/>
          <a:lstStyle/>
          <a:p>
            <a:pPr eaLnBrk="1" hangingPunct="1"/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Елементи поля можуть мати довільну фізичну природу: тваринки в зоопарку, автомобілі на автостоянці, тощо ... </a:t>
            </a:r>
          </a:p>
          <a:p>
            <a:pPr eaLnBrk="1" hangingPunct="1"/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Головна умова – із кожним можна пов’язати певне ціле число </a:t>
            </a:r>
            <a:r>
              <a:rPr lang="uk-UA" sz="3000" dirty="0" err="1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uk-UA" sz="3000" baseline="-25000" dirty="0" err="1" smtClean="0">
                <a:solidFill>
                  <a:srgbClr val="154B27"/>
                </a:solidFill>
                <a:latin typeface="Comic Sans MS" pitchFamily="66" charset="0"/>
              </a:rPr>
              <a:t>i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, тобто, перенумерувати всі елементи, тим самим виконати математичне абстрагування від фізичної природи самих елементів.</a:t>
            </a:r>
          </a:p>
          <a:p>
            <a:pPr eaLnBrk="1" hangingPunct="1"/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Наприклад, для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C00000"/>
                </a:solidFill>
                <a:latin typeface="Comic Sans MS" pitchFamily="66" charset="0"/>
              </a:rPr>
              <a:t>p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= 19, </a:t>
            </a:r>
            <a:r>
              <a:rPr lang="uk-UA" sz="3000" dirty="0" err="1" smtClean="0">
                <a:solidFill>
                  <a:srgbClr val="3822DC"/>
                </a:solidFill>
                <a:latin typeface="Comic Sans MS" pitchFamily="66" charset="0"/>
              </a:rPr>
              <a:t>A</a:t>
            </a:r>
            <a:r>
              <a:rPr lang="uk-UA" sz="3000" baseline="-25000" dirty="0" err="1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r>
              <a:rPr lang="ru-RU" sz="3000" b="1" dirty="0" smtClean="0">
                <a:solidFill>
                  <a:srgbClr val="154B27"/>
                </a:solidFill>
                <a:latin typeface="Comic Sans MS" pitchFamily="66" charset="0"/>
              </a:rPr>
              <a:t> =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{0, 1, 2,..., 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18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}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  <a:endParaRPr lang="ru-RU" sz="30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grpSp>
        <p:nvGrpSpPr>
          <p:cNvPr id="6151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6152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153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6824B498-E844-4E44-8DD9-D1C9E776F92C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7171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59000" y="6245225"/>
            <a:ext cx="5545138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717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90A4D8-D1D6-4406-A948-F97BF0079A0B}" type="slidenum">
              <a:rPr lang="ru-RU" smtClean="0"/>
              <a:pPr/>
              <a:t>5</a:t>
            </a:fld>
            <a:endParaRPr lang="ru-RU" smtClean="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14102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chemeClr val="tx1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chemeClr val="tx1"/>
                </a:solidFill>
                <a:latin typeface="Comic Sans MS" pitchFamily="66" charset="0"/>
              </a:rPr>
              <a:t>                   </a:t>
            </a:r>
            <a:r>
              <a:rPr lang="ru-RU" sz="3200" dirty="0" err="1" smtClean="0">
                <a:solidFill>
                  <a:schemeClr val="tx1"/>
                </a:solidFill>
                <a:latin typeface="Comic Sans MS" pitchFamily="66" charset="0"/>
              </a:rPr>
              <a:t>Арифметичні</a:t>
            </a:r>
            <a:r>
              <a:rPr lang="ru-RU" sz="32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chemeClr val="tx1"/>
                </a:solidFill>
                <a:latin typeface="Comic Sans MS" pitchFamily="66" charset="0"/>
              </a:rPr>
              <a:t>операції</a:t>
            </a:r>
            <a:endParaRPr lang="ru-RU" sz="3200" dirty="0" smtClean="0">
              <a:solidFill>
                <a:schemeClr val="tx1"/>
              </a:solidFill>
              <a:latin typeface="Comic Sans MS" pitchFamily="66" charset="0"/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0825"/>
            <a:ext cx="8229600" cy="4605338"/>
          </a:xfrm>
        </p:spPr>
        <p:txBody>
          <a:bodyPr/>
          <a:lstStyle/>
          <a:p>
            <a:pPr eaLnBrk="1" hangingPunct="1"/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Знайдемо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особливі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елементи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GF(p)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 у множині </a:t>
            </a:r>
            <a:r>
              <a:rPr lang="uk-UA" dirty="0" err="1" smtClean="0">
                <a:solidFill>
                  <a:srgbClr val="3822DC"/>
                </a:solidFill>
                <a:latin typeface="Comic Sans MS" pitchFamily="66" charset="0"/>
              </a:rPr>
              <a:t>A</a:t>
            </a:r>
            <a:r>
              <a:rPr lang="uk-UA" baseline="-25000" dirty="0" err="1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r>
              <a:rPr lang="uk-UA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:</a:t>
            </a:r>
            <a:endParaRPr lang="ru-RU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Особливий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ел-т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b="1" dirty="0" smtClean="0">
                <a:solidFill>
                  <a:srgbClr val="00B050"/>
                </a:solidFill>
                <a:latin typeface="Comic Sans MS" pitchFamily="66" charset="0"/>
              </a:rPr>
              <a:t>0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:   а + </a:t>
            </a:r>
            <a:r>
              <a:rPr lang="ru-RU" dirty="0" smtClean="0">
                <a:solidFill>
                  <a:srgbClr val="00B050"/>
                </a:solidFill>
                <a:latin typeface="Comic Sans MS" pitchFamily="66" charset="0"/>
              </a:rPr>
              <a:t>0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= а,  а*</a:t>
            </a:r>
            <a:r>
              <a:rPr lang="ru-RU" dirty="0" smtClean="0">
                <a:solidFill>
                  <a:srgbClr val="00B050"/>
                </a:solidFill>
                <a:latin typeface="Comic Sans MS" pitchFamily="66" charset="0"/>
              </a:rPr>
              <a:t>0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= </a:t>
            </a:r>
            <a:r>
              <a:rPr lang="ru-RU" dirty="0" smtClean="0">
                <a:solidFill>
                  <a:srgbClr val="00B050"/>
                </a:solidFill>
                <a:latin typeface="Comic Sans MS" pitchFamily="66" charset="0"/>
              </a:rPr>
              <a:t>0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.</a:t>
            </a:r>
          </a:p>
          <a:p>
            <a:pPr eaLnBrk="1" hangingPunct="1"/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Особ</a:t>
            </a:r>
            <a:r>
              <a:rPr lang="uk-UA" dirty="0" err="1" smtClean="0">
                <a:solidFill>
                  <a:srgbClr val="154B27"/>
                </a:solidFill>
                <a:latin typeface="Comic Sans MS" pitchFamily="66" charset="0"/>
              </a:rPr>
              <a:t>ливи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й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smtClean="0">
                <a:solidFill>
                  <a:srgbClr val="00B050"/>
                </a:solidFill>
                <a:latin typeface="Comic Sans MS" pitchFamily="66" charset="0"/>
              </a:rPr>
              <a:t>1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:    а * </a:t>
            </a:r>
            <a:r>
              <a:rPr lang="ru-RU" dirty="0" smtClean="0">
                <a:solidFill>
                  <a:srgbClr val="00B050"/>
                </a:solidFill>
                <a:latin typeface="Comic Sans MS" pitchFamily="66" charset="0"/>
              </a:rPr>
              <a:t>1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= а .</a:t>
            </a:r>
          </a:p>
          <a:p>
            <a:pPr eaLnBrk="1" hangingPunct="1"/>
            <a:endParaRPr lang="en-US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Особ</a:t>
            </a:r>
            <a:r>
              <a:rPr lang="uk-UA" dirty="0" err="1" smtClean="0">
                <a:solidFill>
                  <a:srgbClr val="154B27"/>
                </a:solidFill>
                <a:latin typeface="Comic Sans MS" pitchFamily="66" charset="0"/>
              </a:rPr>
              <a:t>ливі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елементи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єдиними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в </a:t>
            </a:r>
            <a:r>
              <a:rPr lang="uk-UA" dirty="0" err="1" smtClean="0">
                <a:solidFill>
                  <a:srgbClr val="3822DC"/>
                </a:solidFill>
                <a:latin typeface="Comic Sans MS" pitchFamily="66" charset="0"/>
              </a:rPr>
              <a:t>A</a:t>
            </a:r>
            <a:r>
              <a:rPr lang="uk-UA" baseline="-25000" dirty="0" err="1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r>
              <a:rPr lang="uk-UA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. У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сенсі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: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Немає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інших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елементів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в </a:t>
            </a:r>
            <a:r>
              <a:rPr lang="uk-UA" dirty="0" err="1" smtClean="0">
                <a:solidFill>
                  <a:srgbClr val="3822DC"/>
                </a:solidFill>
                <a:latin typeface="Comic Sans MS" pitchFamily="66" charset="0"/>
              </a:rPr>
              <a:t>A</a:t>
            </a:r>
            <a:r>
              <a:rPr lang="uk-UA" baseline="-25000" dirty="0" err="1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r>
              <a:rPr lang="uk-UA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із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властивостями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smtClean="0">
                <a:solidFill>
                  <a:srgbClr val="1C7E21"/>
                </a:solidFill>
                <a:latin typeface="Comic Sans MS" pitchFamily="66" charset="0"/>
              </a:rPr>
              <a:t>0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і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smtClean="0">
                <a:solidFill>
                  <a:srgbClr val="1C7E21"/>
                </a:solidFill>
                <a:latin typeface="Comic Sans MS" pitchFamily="66" charset="0"/>
              </a:rPr>
              <a:t>1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  <a:endParaRPr lang="ru-RU" dirty="0" smtClean="0"/>
          </a:p>
          <a:p>
            <a:pPr eaLnBrk="1" hangingPunct="1">
              <a:buFontTx/>
              <a:buNone/>
            </a:pPr>
            <a:endParaRPr lang="uk-UA" dirty="0" smtClean="0"/>
          </a:p>
        </p:txBody>
      </p:sp>
      <p:grpSp>
        <p:nvGrpSpPr>
          <p:cNvPr id="7175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7176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7177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D6749C25-9726-4E4D-A051-A551BC8EC83E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819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051050" y="6245225"/>
            <a:ext cx="5041900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8196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65F948-F18A-4269-B87D-9BCF0B7EC916}" type="slidenum">
              <a:rPr lang="ru-RU" smtClean="0"/>
              <a:pPr/>
              <a:t>6</a:t>
            </a:fld>
            <a:endParaRPr lang="ru-RU" smtClean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86110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 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/>
            </a:r>
            <a:b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         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Форми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подання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елементів</a:t>
            </a:r>
            <a:endParaRPr lang="ru-RU" sz="3600" dirty="0" smtClean="0">
              <a:solidFill>
                <a:schemeClr val="tx1"/>
              </a:solidFill>
              <a:latin typeface="Comic Sans MS" pitchFamily="66" charset="0"/>
            </a:endParaRP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65288"/>
            <a:ext cx="8229600" cy="4460875"/>
          </a:xfrm>
        </p:spPr>
        <p:txBody>
          <a:bodyPr/>
          <a:lstStyle/>
          <a:p>
            <a:pPr eaLnBrk="1" hangingPunct="1"/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Існує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багато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форм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подання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елементів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GF(p)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.</a:t>
            </a:r>
            <a:endParaRPr lang="ru-RU" sz="30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Частіше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за все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це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u="sng" dirty="0" err="1" smtClean="0">
                <a:solidFill>
                  <a:srgbClr val="154B27"/>
                </a:solidFill>
                <a:latin typeface="Comic Sans MS" pitchFamily="66" charset="0"/>
              </a:rPr>
              <a:t>цілі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числа </a:t>
            </a:r>
            <a:r>
              <a:rPr lang="en-US" sz="3000" dirty="0" err="1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en-US" sz="3000" b="1" baseline="-25000" dirty="0" err="1" smtClean="0">
                <a:solidFill>
                  <a:srgbClr val="154B27"/>
                </a:solidFill>
                <a:latin typeface="Comic Sans MS" pitchFamily="66" charset="0"/>
              </a:rPr>
              <a:t>i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Напр., для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=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83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uk-UA" sz="3000" dirty="0" err="1" smtClean="0">
                <a:solidFill>
                  <a:srgbClr val="0070C0"/>
                </a:solidFill>
                <a:latin typeface="Comic Sans MS" pitchFamily="66" charset="0"/>
              </a:rPr>
              <a:t>A</a:t>
            </a:r>
            <a:r>
              <a:rPr lang="uk-UA" sz="3000" baseline="-25000" dirty="0" err="1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uk-UA" sz="28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b="1" dirty="0" smtClean="0">
                <a:solidFill>
                  <a:srgbClr val="154B27"/>
                </a:solidFill>
                <a:latin typeface="Comic Sans MS" pitchFamily="66" charset="0"/>
              </a:rPr>
              <a:t>=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{0, 1, 2, ..., 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8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2}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.</a:t>
            </a:r>
            <a:endParaRPr lang="ru-RU" sz="30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Інша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продуктивна форма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GF(q)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–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це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всі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поліноми-остачі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за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mod (P(x))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,</a:t>
            </a:r>
            <a:endParaRPr lang="en-US" sz="30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де P(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x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) –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певний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незвідний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поліном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r>
              <a:rPr lang="uk-UA" sz="2800" dirty="0" smtClean="0"/>
              <a:t>Наприклад:    </a:t>
            </a:r>
            <a:r>
              <a:rPr lang="en-US" sz="2800" dirty="0" smtClean="0"/>
              <a:t>x</a:t>
            </a:r>
            <a:r>
              <a:rPr lang="en-US" sz="2800" baseline="30000" dirty="0" smtClean="0"/>
              <a:t>3</a:t>
            </a:r>
            <a:r>
              <a:rPr lang="en-US" sz="2800" dirty="0" smtClean="0"/>
              <a:t> + x + 1,</a:t>
            </a:r>
            <a:r>
              <a:rPr lang="uk-UA" sz="2800" dirty="0" smtClean="0"/>
              <a:t>   </a:t>
            </a:r>
            <a:r>
              <a:rPr lang="en-US" sz="2800" dirty="0" smtClean="0"/>
              <a:t> x</a:t>
            </a:r>
            <a:r>
              <a:rPr lang="en-US" sz="2800" baseline="30000" dirty="0" smtClean="0"/>
              <a:t>4</a:t>
            </a:r>
            <a:r>
              <a:rPr lang="en-US" sz="2800" dirty="0" smtClean="0"/>
              <a:t> + x + 1</a:t>
            </a:r>
            <a:r>
              <a:rPr lang="uk-UA" sz="2800" dirty="0" smtClean="0"/>
              <a:t> , тощо.</a:t>
            </a:r>
            <a:endParaRPr lang="ru-RU" sz="30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grpSp>
        <p:nvGrpSpPr>
          <p:cNvPr id="8199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8200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8201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772E27A-48BF-4F38-98AE-D96F53D17A15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921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979613" y="6245225"/>
            <a:ext cx="5508625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922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94F83D-B2D7-4D24-AEE5-203E16C7B51C}" type="slidenum">
              <a:rPr lang="ru-RU" smtClean="0"/>
              <a:pPr/>
              <a:t>7</a:t>
            </a:fld>
            <a:endParaRPr lang="ru-RU" smtClean="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 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/>
            </a:r>
            <a:b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         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Форми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подання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елементів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425950"/>
          </a:xfrm>
        </p:spPr>
        <p:txBody>
          <a:bodyPr/>
          <a:lstStyle/>
          <a:p>
            <a:pPr eaLnBrk="1" hangingPunct="1"/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За структурою, поле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GF(p)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 містить дві скінченні алгебричні групи: </a:t>
            </a:r>
            <a:r>
              <a:rPr lang="uk-UA" dirty="0" err="1" smtClean="0">
                <a:solidFill>
                  <a:srgbClr val="0070C0"/>
                </a:solidFill>
                <a:latin typeface="Comic Sans MS" pitchFamily="66" charset="0"/>
              </a:rPr>
              <a:t>A</a:t>
            </a:r>
            <a:r>
              <a:rPr lang="uk-UA" baseline="-25000" dirty="0" err="1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ru-RU" b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та </a:t>
            </a:r>
            <a:r>
              <a:rPr lang="en-US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uk-UA" baseline="-25000" dirty="0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r>
              <a:rPr lang="en-US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uk-UA" baseline="-25000" dirty="0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b="1" dirty="0" smtClean="0">
                <a:solidFill>
                  <a:srgbClr val="154B27"/>
                </a:solidFill>
                <a:latin typeface="Comic Sans MS" pitchFamily="66" charset="0"/>
              </a:rPr>
              <a:t>є </a:t>
            </a:r>
            <a:r>
              <a:rPr lang="uk-UA" dirty="0" err="1" smtClean="0">
                <a:solidFill>
                  <a:srgbClr val="0070C0"/>
                </a:solidFill>
                <a:latin typeface="Comic Sans MS" pitchFamily="66" charset="0"/>
              </a:rPr>
              <a:t>A</a:t>
            </a:r>
            <a:r>
              <a:rPr lang="uk-UA" baseline="-25000" dirty="0" err="1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ru-RU" b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і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підмножиною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dirty="0" err="1" smtClean="0">
                <a:solidFill>
                  <a:srgbClr val="0070C0"/>
                </a:solidFill>
                <a:latin typeface="Comic Sans MS" pitchFamily="66" charset="0"/>
              </a:rPr>
              <a:t>A</a:t>
            </a:r>
            <a:r>
              <a:rPr lang="uk-UA" baseline="-25000" dirty="0" err="1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uk-UA" baseline="-25000" dirty="0" smtClean="0">
                <a:solidFill>
                  <a:srgbClr val="0070C0"/>
                </a:solidFill>
                <a:latin typeface="Comic Sans MS" pitchFamily="66" charset="0"/>
              </a:rPr>
              <a:t> 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endParaRPr lang="ru-RU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u="sng" dirty="0" err="1" smtClean="0">
                <a:solidFill>
                  <a:srgbClr val="0070C0"/>
                </a:solidFill>
                <a:latin typeface="Comic Sans MS" pitchFamily="66" charset="0"/>
              </a:rPr>
              <a:t>Мультиплікативна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група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поля </a:t>
            </a:r>
            <a:r>
              <a:rPr lang="en-US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uk-UA" baseline="-25000" dirty="0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</a:rPr>
              <a:t> –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це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підмножина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ненульових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елементів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множини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dirty="0" err="1" smtClean="0">
                <a:solidFill>
                  <a:srgbClr val="0070C0"/>
                </a:solidFill>
                <a:latin typeface="Comic Sans MS" pitchFamily="66" charset="0"/>
              </a:rPr>
              <a:t>A</a:t>
            </a:r>
            <a:r>
              <a:rPr lang="uk-UA" baseline="-25000" dirty="0" err="1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ru-RU" b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із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однією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операцією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«*»,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заданою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на </a:t>
            </a:r>
            <a:r>
              <a:rPr lang="en-US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uk-UA" baseline="-25000" dirty="0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–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операцією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множення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endParaRPr lang="uk-UA" dirty="0" smtClean="0"/>
          </a:p>
        </p:txBody>
      </p:sp>
      <p:grpSp>
        <p:nvGrpSpPr>
          <p:cNvPr id="9223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922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922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76F91A7-079C-4A49-A753-00E94B9E3EF6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0243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39975" y="6245225"/>
            <a:ext cx="493236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024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80D978-C09E-4FB0-875C-D279428B79EC}" type="slidenum">
              <a:rPr lang="ru-RU" smtClean="0"/>
              <a:pPr/>
              <a:t>8</a:t>
            </a:fld>
            <a:endParaRPr lang="ru-RU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 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/>
            </a:r>
            <a:b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         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Форми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подання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елементів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44675"/>
            <a:ext cx="8229600" cy="4281488"/>
          </a:xfrm>
        </p:spPr>
        <p:txBody>
          <a:bodyPr/>
          <a:lstStyle/>
          <a:p>
            <a:pPr eaLnBrk="1" hangingPunct="1"/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Наприклад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для </a:t>
            </a:r>
            <a:r>
              <a:rPr lang="en-US" sz="3000" dirty="0" smtClean="0">
                <a:solidFill>
                  <a:srgbClr val="C00000"/>
                </a:solidFill>
                <a:latin typeface="Comic Sans MS" pitchFamily="66" charset="0"/>
              </a:rPr>
              <a:t>p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=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83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мультиплікативна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група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поля склад</a:t>
            </a:r>
            <a:r>
              <a:rPr lang="uk-UA" sz="3000" dirty="0" err="1" smtClean="0">
                <a:solidFill>
                  <a:srgbClr val="154B27"/>
                </a:solidFill>
                <a:latin typeface="Comic Sans MS" pitchFamily="66" charset="0"/>
              </a:rPr>
              <a:t>ає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uk-UA" sz="3000" baseline="-25000" dirty="0" smtClean="0">
                <a:solidFill>
                  <a:srgbClr val="0070C0"/>
                </a:solidFill>
                <a:latin typeface="Comic Sans MS" pitchFamily="66" charset="0"/>
              </a:rPr>
              <a:t>83</a:t>
            </a:r>
            <a:r>
              <a:rPr lang="uk-UA" sz="30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b="1" dirty="0" smtClean="0">
                <a:solidFill>
                  <a:srgbClr val="154B27"/>
                </a:solidFill>
                <a:latin typeface="Comic Sans MS" pitchFamily="66" charset="0"/>
              </a:rPr>
              <a:t>=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{1, 2, ..., 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8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2}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, разом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із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операцією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«*» на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GF(83)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.</a:t>
            </a:r>
            <a:endParaRPr lang="ru-RU" sz="30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Всі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елементи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i="1" dirty="0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uk-UA" sz="3000" i="1" dirty="0" smtClean="0">
                <a:solidFill>
                  <a:srgbClr val="154B27"/>
                </a:solidFill>
                <a:latin typeface="Comic Sans MS" pitchFamily="66" charset="0"/>
              </a:rPr>
              <a:t>≠</a:t>
            </a:r>
            <a:r>
              <a:rPr lang="uk-UA" sz="3000" b="1" i="1" dirty="0" smtClean="0">
                <a:solidFill>
                  <a:srgbClr val="154B27"/>
                </a:solidFill>
                <a:latin typeface="Comic Sans MS" pitchFamily="66" charset="0"/>
              </a:rPr>
              <a:t>0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із </a:t>
            </a:r>
            <a:r>
              <a:rPr lang="en-US" sz="3000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en-US" sz="3000" baseline="-25000" dirty="0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ru-RU" sz="3000" b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м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а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ють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подання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у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вигляді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степенів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 так званого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первісного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елемента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(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prime root from “1”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en-US" sz="3000" b="1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: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</a:p>
          <a:p>
            <a:pPr eaLnBrk="1" hangingPunct="1"/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Спрощено: </a:t>
            </a:r>
            <a:r>
              <a:rPr lang="en-US" sz="3000" dirty="0" err="1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en-US" sz="3000" b="1" baseline="30000" dirty="0" err="1" smtClean="0">
                <a:solidFill>
                  <a:srgbClr val="154B27"/>
                </a:solidFill>
                <a:latin typeface="Comic Sans MS" pitchFamily="66" charset="0"/>
              </a:rPr>
              <a:t>j</a:t>
            </a:r>
            <a:r>
              <a:rPr lang="en-US" sz="3000" baseline="30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= </a:t>
            </a:r>
            <a:r>
              <a:rPr lang="en-US" sz="3000" b="1" i="1" dirty="0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j= 0, 1, …, (p-1)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; </a:t>
            </a:r>
            <a:r>
              <a:rPr lang="en-US" sz="3000" dirty="0" err="1" smtClean="0">
                <a:solidFill>
                  <a:srgbClr val="154B27"/>
                </a:solidFill>
                <a:latin typeface="Comic Sans MS" pitchFamily="66" charset="0"/>
              </a:rPr>
              <a:t>w,</a:t>
            </a:r>
            <a:r>
              <a:rPr lang="en-US" sz="3000" i="1" dirty="0" err="1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uk-UA" sz="3000" i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l-GR" sz="3000" i="1" dirty="0" smtClean="0">
                <a:solidFill>
                  <a:srgbClr val="154B27"/>
                </a:solidFill>
                <a:latin typeface="Calibri" pitchFamily="34" charset="0"/>
              </a:rPr>
              <a:t>ϵ</a:t>
            </a:r>
            <a:r>
              <a:rPr lang="uk-UA" sz="3000" i="1" dirty="0" smtClean="0">
                <a:solidFill>
                  <a:srgbClr val="154B27"/>
                </a:solidFill>
                <a:latin typeface="Calibri" pitchFamily="34" charset="0"/>
              </a:rPr>
              <a:t> </a:t>
            </a:r>
            <a:r>
              <a:rPr lang="en-US" sz="3000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en-US" sz="3000" baseline="-25000" dirty="0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Точніше: </a:t>
            </a:r>
            <a:r>
              <a:rPr lang="en-US" sz="3000" dirty="0" err="1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en-US" sz="3000" b="1" baseline="30000" dirty="0" err="1" smtClean="0">
                <a:solidFill>
                  <a:srgbClr val="154B27"/>
                </a:solidFill>
                <a:latin typeface="Comic Sans MS" pitchFamily="66" charset="0"/>
              </a:rPr>
              <a:t>j</a:t>
            </a:r>
            <a:r>
              <a:rPr lang="en-US" sz="3000" baseline="30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alibri" pitchFamily="34" charset="0"/>
              </a:rPr>
              <a:t>≡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b="1" i="1" dirty="0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uk-UA" sz="3000" b="1" i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mod p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;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 </a:t>
            </a:r>
            <a:r>
              <a:rPr lang="en-US" sz="3000" dirty="0" err="1" smtClean="0">
                <a:solidFill>
                  <a:srgbClr val="154B27"/>
                </a:solidFill>
                <a:latin typeface="Comic Sans MS" pitchFamily="66" charset="0"/>
              </a:rPr>
              <a:t>w,</a:t>
            </a:r>
            <a:r>
              <a:rPr lang="en-US" sz="3000" i="1" dirty="0" err="1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uk-UA" sz="3000" i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l-GR" sz="3000" i="1" dirty="0" smtClean="0">
                <a:solidFill>
                  <a:srgbClr val="154B27"/>
                </a:solidFill>
                <a:latin typeface="Calibri" pitchFamily="34" charset="0"/>
              </a:rPr>
              <a:t>ϵ</a:t>
            </a:r>
            <a:r>
              <a:rPr lang="uk-UA" sz="3000" i="1" dirty="0" smtClean="0">
                <a:solidFill>
                  <a:srgbClr val="154B27"/>
                </a:solidFill>
                <a:latin typeface="Calibri" pitchFamily="34" charset="0"/>
              </a:rPr>
              <a:t> </a:t>
            </a:r>
            <a:r>
              <a:rPr lang="en-US" sz="3000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en-US" sz="3000" baseline="-25000" dirty="0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0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&lt;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b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&lt;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p.</a:t>
            </a:r>
          </a:p>
        </p:txBody>
      </p:sp>
      <p:grpSp>
        <p:nvGrpSpPr>
          <p:cNvPr id="10247" name="Group 4"/>
          <p:cNvGrpSpPr>
            <a:grpSpLocks/>
          </p:cNvGrpSpPr>
          <p:nvPr/>
        </p:nvGrpSpPr>
        <p:grpSpPr bwMode="auto">
          <a:xfrm>
            <a:off x="215900" y="368300"/>
            <a:ext cx="8064500" cy="1827213"/>
            <a:chOff x="612" y="1525"/>
            <a:chExt cx="4626" cy="1361"/>
          </a:xfrm>
        </p:grpSpPr>
        <p:sp>
          <p:nvSpPr>
            <p:cNvPr id="10248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0249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69BA59A-116D-4207-95EC-D9ECDC5798B3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1267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871663" y="6245225"/>
            <a:ext cx="6084887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1268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6AABE1-AF5D-45BA-AB4F-3988926CCC9F}" type="slidenum">
              <a:rPr lang="ru-RU" smtClean="0"/>
              <a:pPr/>
              <a:t>9</a:t>
            </a:fld>
            <a:endParaRPr lang="ru-RU" smtClean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42094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 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/>
            </a:r>
            <a:b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         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Форми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подання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елементів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362950" cy="4497388"/>
          </a:xfrm>
        </p:spPr>
        <p:txBody>
          <a:bodyPr/>
          <a:lstStyle/>
          <a:p>
            <a:pPr eaLnBrk="1" hangingPunct="1"/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Первісний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–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це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е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лемент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2800" dirty="0" smtClean="0">
                <a:solidFill>
                  <a:srgbClr val="0070C0"/>
                </a:solidFill>
                <a:latin typeface="Comic Sans MS" pitchFamily="66" charset="0"/>
              </a:rPr>
              <a:t>M</a:t>
            </a:r>
            <a:r>
              <a:rPr lang="en-US" sz="2800" baseline="-25000" dirty="0" smtClean="0">
                <a:solidFill>
                  <a:srgbClr val="0070C0"/>
                </a:solidFill>
                <a:latin typeface="Comic Sans MS" pitchFamily="66" charset="0"/>
              </a:rPr>
              <a:t>p</a:t>
            </a:r>
            <a:r>
              <a:rPr lang="uk-UA" sz="28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що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має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порядок (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p-1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) .</a:t>
            </a:r>
          </a:p>
          <a:p>
            <a:pPr eaLnBrk="1" hangingPunct="1"/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А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мультиплікативний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порядок </a:t>
            </a:r>
            <a:r>
              <a:rPr lang="en-US" sz="3000" b="1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-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це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найменшаа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степінь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err="1" smtClean="0">
                <a:latin typeface="Comic Sans MS" pitchFamily="66" charset="0"/>
              </a:rPr>
              <a:t>j</a:t>
            </a:r>
            <a:r>
              <a:rPr lang="en-US" sz="3000" baseline="-25000" dirty="0" err="1" smtClean="0">
                <a:latin typeface="Comic Sans MS" pitchFamily="66" charset="0"/>
              </a:rPr>
              <a:t>m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для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якої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000" b="1" dirty="0" err="1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en-US" sz="3000" dirty="0" err="1" smtClean="0">
                <a:latin typeface="Comic Sans MS" pitchFamily="66" charset="0"/>
              </a:rPr>
              <a:t>^j</a:t>
            </a:r>
            <a:r>
              <a:rPr lang="en-US" sz="3000" baseline="-25000" dirty="0" err="1" smtClean="0">
                <a:latin typeface="Comic Sans MS" pitchFamily="66" charset="0"/>
              </a:rPr>
              <a:t>m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)</a:t>
            </a:r>
            <a:r>
              <a:rPr lang="en-US" sz="3000" baseline="30000" dirty="0" smtClean="0">
                <a:latin typeface="Comic Sans MS" pitchFamily="66" charset="0"/>
              </a:rPr>
              <a:t> </a:t>
            </a:r>
            <a:r>
              <a:rPr lang="en-US" sz="3000" dirty="0" smtClean="0">
                <a:latin typeface="Comic Sans MS" pitchFamily="66" charset="0"/>
              </a:rPr>
              <a:t>= </a:t>
            </a:r>
            <a:r>
              <a:rPr lang="ru-RU" sz="3000" dirty="0" smtClean="0">
                <a:latin typeface="Comic Sans MS" pitchFamily="66" charset="0"/>
              </a:rPr>
              <a:t>1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endParaRPr lang="ru-RU" sz="30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Якщо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err="1" smtClean="0">
                <a:latin typeface="Comic Sans MS" pitchFamily="66" charset="0"/>
              </a:rPr>
              <a:t>j</a:t>
            </a:r>
            <a:r>
              <a:rPr lang="en-US" sz="3000" baseline="-25000" dirty="0" err="1" smtClean="0">
                <a:latin typeface="Comic Sans MS" pitchFamily="66" charset="0"/>
              </a:rPr>
              <a:t>m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=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p-1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то </a:t>
            </a:r>
            <a:r>
              <a:rPr lang="en-US" sz="3000" b="1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первісний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а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всі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степені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b="1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b="1" baseline="30000" dirty="0" smtClean="0">
                <a:solidFill>
                  <a:srgbClr val="154B27"/>
                </a:solidFill>
                <a:latin typeface="Comic Sans MS" pitchFamily="66" charset="0"/>
              </a:rPr>
              <a:t>j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, де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j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=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0, 1, 2, …, (p-1) </a:t>
            </a:r>
            <a:r>
              <a:rPr lang="uk-UA" sz="30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пробігають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один раз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значення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всіх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ненульових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елементів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из </a:t>
            </a:r>
            <a:r>
              <a:rPr lang="en-US" sz="3000" b="1" dirty="0" smtClean="0">
                <a:solidFill>
                  <a:srgbClr val="154B27"/>
                </a:solidFill>
                <a:latin typeface="Comic Sans MS" pitchFamily="66" charset="0"/>
              </a:rPr>
              <a:t>GF(p) .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endParaRPr lang="en-US" sz="30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endParaRPr lang="ru-RU" sz="30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grpSp>
        <p:nvGrpSpPr>
          <p:cNvPr id="11271" name="Group 4"/>
          <p:cNvGrpSpPr>
            <a:grpSpLocks/>
          </p:cNvGrpSpPr>
          <p:nvPr/>
        </p:nvGrpSpPr>
        <p:grpSpPr bwMode="auto">
          <a:xfrm>
            <a:off x="250825" y="404813"/>
            <a:ext cx="8064500" cy="1827212"/>
            <a:chOff x="612" y="1525"/>
            <a:chExt cx="4626" cy="1361"/>
          </a:xfrm>
        </p:grpSpPr>
        <p:sp>
          <p:nvSpPr>
            <p:cNvPr id="11272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1273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Дата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704531E-54E3-4756-98FD-0DE681FF1591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2291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2339975" y="6265863"/>
            <a:ext cx="547211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2292" name="Номер слайда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6528DD0-6134-4F01-82B9-72ED32467A98}" type="slidenum">
              <a:rPr lang="ru-RU" smtClean="0"/>
              <a:pPr/>
              <a:t>10</a:t>
            </a:fld>
            <a:endParaRPr lang="ru-RU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 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/>
            </a:r>
            <a:b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         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Форми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подання</a:t>
            </a:r>
            <a:r>
              <a:rPr lang="ru-RU" sz="3600" dirty="0" smtClean="0">
                <a:solidFill>
                  <a:schemeClr val="tx1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chemeClr val="tx1"/>
                </a:solidFill>
                <a:latin typeface="Comic Sans MS" pitchFamily="66" charset="0"/>
              </a:rPr>
              <a:t>елементів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773238"/>
            <a:ext cx="4032250" cy="43926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Приклад: </a:t>
            </a:r>
            <a:r>
              <a:rPr lang="ru-RU" sz="2800" dirty="0" err="1" smtClean="0">
                <a:solidFill>
                  <a:srgbClr val="1D6535"/>
                </a:solidFill>
                <a:latin typeface="Comic Sans MS" pitchFamily="66" charset="0"/>
              </a:rPr>
              <a:t>дві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D6535"/>
                </a:solidFill>
                <a:latin typeface="Comic Sans MS" pitchFamily="66" charset="0"/>
              </a:rPr>
              <a:t>форми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D6535"/>
                </a:solidFill>
                <a:latin typeface="Comic Sans MS" pitchFamily="66" charset="0"/>
              </a:rPr>
              <a:t>подання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D6535"/>
                </a:solidFill>
                <a:latin typeface="Comic Sans MS" pitchFamily="66" charset="0"/>
              </a:rPr>
              <a:t>елементів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</a:rPr>
              <a:t>GF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(7) за 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</a:rPr>
              <a:t>mod </a:t>
            </a:r>
            <a:r>
              <a:rPr lang="en-US" sz="2800" i="1" dirty="0" smtClean="0">
                <a:solidFill>
                  <a:srgbClr val="1D6535"/>
                </a:solidFill>
                <a:latin typeface="Comic Sans MS" pitchFamily="66" charset="0"/>
              </a:rPr>
              <a:t>p, </a:t>
            </a:r>
          </a:p>
          <a:p>
            <a:pPr eaLnBrk="1" hangingPunct="1">
              <a:buFontTx/>
              <a:buNone/>
            </a:pPr>
            <a:r>
              <a:rPr lang="en-US" sz="2800" i="1" dirty="0" smtClean="0">
                <a:solidFill>
                  <a:srgbClr val="1D6535"/>
                </a:solidFill>
                <a:latin typeface="Comic Sans MS" pitchFamily="66" charset="0"/>
              </a:rPr>
              <a:t>   p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</a:rPr>
              <a:t> = 7</a:t>
            </a:r>
            <a:r>
              <a:rPr lang="uk-UA" sz="2800" dirty="0" smtClean="0">
                <a:solidFill>
                  <a:srgbClr val="1D6535"/>
                </a:solidFill>
                <a:latin typeface="Comic Sans MS" pitchFamily="66" charset="0"/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en-US" sz="3000" baseline="-25000" dirty="0" smtClean="0">
                <a:solidFill>
                  <a:srgbClr val="154B27"/>
                </a:solidFill>
                <a:latin typeface="Comic Sans MS" pitchFamily="66" charset="0"/>
              </a:rPr>
              <a:t>7</a:t>
            </a:r>
            <a:r>
              <a:rPr lang="uk-UA" sz="2800" baseline="-25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b="1" dirty="0" smtClean="0">
                <a:solidFill>
                  <a:srgbClr val="154B27"/>
                </a:solidFill>
                <a:latin typeface="Comic Sans MS" pitchFamily="66" charset="0"/>
              </a:rPr>
              <a:t>=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dirty="0" smtClean="0">
                <a:solidFill>
                  <a:srgbClr val="1D6535"/>
                </a:solidFill>
                <a:latin typeface="Comic Sans MS" pitchFamily="66" charset="0"/>
              </a:rPr>
              <a:t>{0,1,2,3,4,5,6},</a:t>
            </a:r>
          </a:p>
          <a:p>
            <a:pPr eaLnBrk="1" hangingPunct="1">
              <a:buFontTx/>
              <a:buNone/>
            </a:pPr>
            <a:r>
              <a:rPr lang="en-US" sz="3000" dirty="0" smtClean="0">
                <a:solidFill>
                  <a:srgbClr val="154B27"/>
                </a:solidFill>
                <a:latin typeface="Comic Sans MS" pitchFamily="66" charset="0"/>
              </a:rPr>
              <a:t>M</a:t>
            </a:r>
            <a:r>
              <a:rPr lang="en-US" sz="3000" baseline="-25000" dirty="0" smtClean="0">
                <a:solidFill>
                  <a:srgbClr val="154B27"/>
                </a:solidFill>
                <a:latin typeface="Comic Sans MS" pitchFamily="66" charset="0"/>
              </a:rPr>
              <a:t>7 </a:t>
            </a:r>
            <a:r>
              <a:rPr lang="en-US" sz="3000" dirty="0" smtClean="0">
                <a:solidFill>
                  <a:srgbClr val="1D6535"/>
                </a:solidFill>
                <a:latin typeface="Comic Sans MS" pitchFamily="66" charset="0"/>
              </a:rPr>
              <a:t>= {1,2,3,4,5,6} </a:t>
            </a:r>
            <a:r>
              <a:rPr lang="uk-UA" sz="3000" dirty="0" smtClean="0">
                <a:solidFill>
                  <a:srgbClr val="1D6535"/>
                </a:solidFill>
                <a:latin typeface="Comic Sans MS" pitchFamily="66" charset="0"/>
              </a:rPr>
              <a:t>.</a:t>
            </a:r>
            <a:endParaRPr lang="en-US" sz="3000" dirty="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uk-UA" sz="3000" dirty="0" err="1" smtClean="0">
                <a:solidFill>
                  <a:srgbClr val="1D6535"/>
                </a:solidFill>
                <a:latin typeface="Comic Sans MS" pitchFamily="66" charset="0"/>
              </a:rPr>
              <a:t>Перевіри</a:t>
            </a:r>
            <a:r>
              <a:rPr lang="ru-RU" sz="3000" dirty="0" smtClean="0">
                <a:solidFill>
                  <a:srgbClr val="1D6535"/>
                </a:solidFill>
                <a:latin typeface="Comic Sans MS" pitchFamily="66" charset="0"/>
              </a:rPr>
              <a:t>мо </a:t>
            </a:r>
            <a:r>
              <a:rPr lang="en-US" sz="3000" b="1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en-US" sz="3000" dirty="0" smtClean="0">
                <a:solidFill>
                  <a:srgbClr val="1D6535"/>
                </a:solidFill>
                <a:latin typeface="Comic Sans MS" pitchFamily="66" charset="0"/>
              </a:rPr>
              <a:t> = 3</a:t>
            </a:r>
            <a:r>
              <a:rPr lang="uk-UA" sz="3000" dirty="0" smtClean="0">
                <a:solidFill>
                  <a:srgbClr val="1D6535"/>
                </a:solidFill>
                <a:latin typeface="Comic Sans MS" pitchFamily="66" charset="0"/>
              </a:rPr>
              <a:t>, на первісність.</a:t>
            </a:r>
            <a:endParaRPr lang="ru-RU" sz="3000" dirty="0" smtClean="0">
              <a:solidFill>
                <a:srgbClr val="1D6535"/>
              </a:solidFill>
              <a:latin typeface="Comic Sans MS" pitchFamily="66" charset="0"/>
            </a:endParaRPr>
          </a:p>
        </p:txBody>
      </p:sp>
      <p:grpSp>
        <p:nvGrpSpPr>
          <p:cNvPr id="12295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1233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233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graphicFrame>
        <p:nvGraphicFramePr>
          <p:cNvPr id="44143" name="Group 111"/>
          <p:cNvGraphicFramePr>
            <a:graphicFrameLocks noGrp="1"/>
          </p:cNvGraphicFramePr>
          <p:nvPr>
            <p:ph sz="half" idx="2"/>
          </p:nvPr>
        </p:nvGraphicFramePr>
        <p:xfrm>
          <a:off x="4427538" y="1628775"/>
          <a:ext cx="3898900" cy="4525964"/>
        </p:xfrm>
        <a:graphic>
          <a:graphicData uri="http://schemas.openxmlformats.org/drawingml/2006/table">
            <a:tbl>
              <a:tblPr/>
              <a:tblGrid>
                <a:gridCol w="1206500"/>
                <a:gridCol w="1346200"/>
                <a:gridCol w="1346200"/>
              </a:tblGrid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j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  <a:r>
                        <a:rPr kumimoji="0" lang="en-US" sz="2800" b="1" i="0" u="none" strike="noStrike" cap="none" normalizeH="0" baseline="-25000" dirty="0" err="1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i</a:t>
                      </a:r>
                      <a:endParaRPr kumimoji="0" lang="ru-RU" sz="2800" b="1" i="0" u="none" strike="noStrike" cap="none" normalizeH="0" baseline="-25000" dirty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mic Sans MS" pitchFamily="66" charset="0"/>
                        </a:rPr>
                        <a:t>w</a:t>
                      </a:r>
                      <a:r>
                        <a:rPr kumimoji="0" lang="uk-UA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j</a:t>
                      </a:r>
                      <a:endParaRPr kumimoji="0" lang="ru-RU" sz="2800" b="1" i="0" u="none" strike="noStrike" cap="none" normalizeH="0" baseline="30000" dirty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-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-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r>
                        <a:rPr kumimoji="0" 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  <a:endParaRPr kumimoji="0" lang="ru-RU" sz="28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r>
                        <a:rPr kumimoji="0" 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2</a:t>
                      </a:r>
                      <a:endParaRPr kumimoji="0" lang="ru-RU" sz="28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r>
                        <a:rPr kumimoji="0" 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  <a:endParaRPr kumimoji="0" lang="ru-RU" sz="28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r>
                        <a:rPr kumimoji="0" 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4</a:t>
                      </a:r>
                      <a:endParaRPr kumimoji="0" lang="ru-RU" sz="28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r>
                        <a:rPr kumimoji="0" 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5</a:t>
                      </a:r>
                      <a:endParaRPr kumimoji="0" lang="ru-RU" sz="28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6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r>
                        <a:rPr kumimoji="0" lang="en-US" sz="2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1D6535"/>
                          </a:solidFill>
                          <a:effectLst/>
                          <a:latin typeface="Comic Sans MS" pitchFamily="66" charset="0"/>
                        </a:rPr>
                        <a:t>3</a:t>
                      </a:r>
                      <a:endParaRPr kumimoji="0" lang="ru-RU" sz="28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1D6535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14765BC-6525-45B8-911E-15A190158C7E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331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59000" y="6245225"/>
            <a:ext cx="5221288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3316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7EE2CBD-7B36-4418-A485-AFCDECF80608}" type="slidenum">
              <a:rPr lang="ru-RU" smtClean="0"/>
              <a:pPr/>
              <a:t>11</a:t>
            </a:fld>
            <a:endParaRPr lang="ru-RU" smtClean="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 </a:t>
            </a:r>
            <a:r>
              <a:rPr lang="en-US" sz="3200" dirty="0" smtClean="0">
                <a:solidFill>
                  <a:srgbClr val="1D6535"/>
                </a:solidFill>
                <a:latin typeface="Comic Sans MS" pitchFamily="66" charset="0"/>
              </a:rPr>
              <a:t/>
            </a:r>
            <a:br>
              <a:rPr lang="en-US" sz="3200" dirty="0" smtClean="0">
                <a:solidFill>
                  <a:srgbClr val="1D6535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rgbClr val="1D6535"/>
                </a:solidFill>
                <a:latin typeface="Comic Sans MS" pitchFamily="66" charset="0"/>
              </a:rPr>
              <a:t>              </a:t>
            </a:r>
            <a:r>
              <a:rPr lang="ru-RU" sz="3200" dirty="0" err="1" smtClean="0">
                <a:solidFill>
                  <a:srgbClr val="1D6535"/>
                </a:solidFill>
                <a:latin typeface="Comic Sans MS" pitchFamily="66" charset="0"/>
              </a:rPr>
              <a:t>Таблиця</a:t>
            </a:r>
            <a:r>
              <a:rPr lang="ru-RU" sz="32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rgbClr val="1D6535"/>
                </a:solidFill>
                <a:latin typeface="Comic Sans MS" pitchFamily="66" charset="0"/>
              </a:rPr>
              <a:t>циклів</a:t>
            </a:r>
            <a:r>
              <a:rPr lang="ru-RU" sz="3200" dirty="0" smtClean="0">
                <a:solidFill>
                  <a:srgbClr val="1D6535"/>
                </a:solidFill>
                <a:latin typeface="Comic Sans MS" pitchFamily="66" charset="0"/>
              </a:rPr>
              <a:t> для </a:t>
            </a:r>
            <a:r>
              <a:rPr lang="en-US" sz="3200" dirty="0" smtClean="0">
                <a:solidFill>
                  <a:srgbClr val="1D6535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D6535"/>
                </a:solidFill>
                <a:latin typeface="Comic Sans MS" pitchFamily="66" charset="0"/>
              </a:rPr>
              <a:t>(7)</a:t>
            </a:r>
          </a:p>
        </p:txBody>
      </p:sp>
      <p:grpSp>
        <p:nvGrpSpPr>
          <p:cNvPr id="13318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13429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3430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13319" name="Rectangle 373"/>
          <p:cNvSpPr>
            <a:spLocks noChangeArrowheads="1"/>
          </p:cNvSpPr>
          <p:nvPr/>
        </p:nvSpPr>
        <p:spPr bwMode="auto">
          <a:xfrm>
            <a:off x="468312" y="5642889"/>
            <a:ext cx="81721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uk-UA" sz="2400" dirty="0" smtClean="0">
                <a:solidFill>
                  <a:srgbClr val="1D6535"/>
                </a:solidFill>
                <a:latin typeface="Comic Sans MS" pitchFamily="66" charset="0"/>
              </a:rPr>
              <a:t>Е</a:t>
            </a:r>
            <a:r>
              <a:rPr lang="ru-RU" sz="2400" dirty="0" err="1">
                <a:solidFill>
                  <a:srgbClr val="1D6535"/>
                </a:solidFill>
                <a:latin typeface="Comic Sans MS" pitchFamily="66" charset="0"/>
              </a:rPr>
              <a:t>лементи</a:t>
            </a:r>
            <a:r>
              <a:rPr lang="ru-RU" sz="2400" dirty="0">
                <a:solidFill>
                  <a:srgbClr val="1D6535"/>
                </a:solidFill>
                <a:latin typeface="Comic Sans MS" pitchFamily="66" charset="0"/>
              </a:rPr>
              <a:t> 3 та 5 </a:t>
            </a:r>
            <a:r>
              <a:rPr lang="ru-RU" sz="2400" dirty="0" err="1">
                <a:solidFill>
                  <a:srgbClr val="1D6535"/>
                </a:solidFill>
                <a:latin typeface="Comic Sans MS" pitchFamily="66" charset="0"/>
              </a:rPr>
              <a:t>є</a:t>
            </a:r>
            <a:r>
              <a:rPr lang="ru-RU" sz="2400" dirty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2400" dirty="0" err="1" smtClean="0">
                <a:solidFill>
                  <a:srgbClr val="1D6535"/>
                </a:solidFill>
                <a:latin typeface="Comic Sans MS" pitchFamily="66" charset="0"/>
              </a:rPr>
              <a:t>первісними</a:t>
            </a:r>
            <a:r>
              <a:rPr lang="en-US" sz="24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ru-RU" sz="2400" dirty="0" smtClean="0">
                <a:solidFill>
                  <a:srgbClr val="1D6535"/>
                </a:solidFill>
                <a:latin typeface="Comic Sans MS" pitchFamily="66" charset="0"/>
              </a:rPr>
              <a:t> (</a:t>
            </a:r>
            <a:r>
              <a:rPr lang="en-US" sz="2400" dirty="0" smtClean="0">
                <a:solidFill>
                  <a:srgbClr val="1D6535"/>
                </a:solidFill>
                <a:latin typeface="Comic Sans MS" pitchFamily="66" charset="0"/>
              </a:rPr>
              <a:t>prime root from “1”</a:t>
            </a:r>
            <a:r>
              <a:rPr lang="ru-RU" sz="2400" dirty="0" smtClean="0">
                <a:solidFill>
                  <a:srgbClr val="1D6535"/>
                </a:solidFill>
                <a:latin typeface="Comic Sans MS" pitchFamily="66" charset="0"/>
              </a:rPr>
              <a:t>)</a:t>
            </a:r>
            <a:r>
              <a:rPr lang="en-US" sz="2400" dirty="0" smtClean="0">
                <a:solidFill>
                  <a:srgbClr val="1D6535"/>
                </a:solidFill>
                <a:latin typeface="Comic Sans MS" pitchFamily="66" charset="0"/>
              </a:rPr>
              <a:t>.</a:t>
            </a:r>
            <a:endParaRPr lang="ru-RU" sz="2400" b="1" dirty="0">
              <a:solidFill>
                <a:srgbClr val="C00000"/>
              </a:solidFill>
              <a:latin typeface="Comic Sans MS" pitchFamily="66" charset="0"/>
            </a:endParaRPr>
          </a:p>
        </p:txBody>
      </p:sp>
      <p:graphicFrame>
        <p:nvGraphicFramePr>
          <p:cNvPr id="45803" name="Group 747"/>
          <p:cNvGraphicFramePr>
            <a:graphicFrameLocks noGrp="1"/>
          </p:cNvGraphicFramePr>
          <p:nvPr>
            <p:ph type="tbl" idx="1"/>
          </p:nvPr>
        </p:nvGraphicFramePr>
        <p:xfrm>
          <a:off x="457200" y="1600200"/>
          <a:ext cx="8229600" cy="4060828"/>
        </p:xfrm>
        <a:graphic>
          <a:graphicData uri="http://schemas.openxmlformats.org/drawingml/2006/table">
            <a:tbl>
              <a:tblPr/>
              <a:tblGrid>
                <a:gridCol w="1027113"/>
                <a:gridCol w="1028700"/>
                <a:gridCol w="1027112"/>
                <a:gridCol w="1028700"/>
                <a:gridCol w="1027113"/>
                <a:gridCol w="1030287"/>
                <a:gridCol w="1030288"/>
                <a:gridCol w="1030287"/>
              </a:tblGrid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ea typeface="Times New Roman" pitchFamily="18" charset="0"/>
                          <a:cs typeface="Arial" charset="0"/>
                        </a:rPr>
                        <a:t>p =7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j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,  j = 1, 2, 3, … , p – 1    </a:t>
                      </a:r>
                      <a:r>
                        <a:rPr kumimoji="0" lang="uk-UA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за  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mod p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</a:tr>
              <a:tr h="738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Элемент</a:t>
                      </a: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 </a:t>
                      </a:r>
                      <a:r>
                        <a:rPr kumimoji="0" lang="ru-RU" sz="17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1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=</a:t>
                      </a:r>
                      <a:r>
                        <a:rPr kumimoji="0" lang="ru-RU" sz="17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а </a:t>
                      </a:r>
                      <a:r>
                        <a:rPr kumimoji="0" lang="en-US" sz="17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p-1</a:t>
                      </a:r>
                      <a:endParaRPr kumimoji="0" lang="en-US" sz="1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0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0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0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3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0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0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5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а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ru-RU" sz="2000" b="0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2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3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3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5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474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4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5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5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3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6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mic Sans MS" pitchFamily="66" charset="0"/>
                          <a:cs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018FA5B-99A3-4989-9BB3-BCE7692A8E28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433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32025" y="6245225"/>
            <a:ext cx="514826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434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EC781A-6BAD-4B7A-B86F-2F8C5872BF6C}" type="slidenum">
              <a:rPr lang="ru-RU" smtClean="0"/>
              <a:pPr/>
              <a:t>12</a:t>
            </a:fld>
            <a:endParaRPr lang="ru-RU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57338"/>
            <a:ext cx="8435975" cy="4568825"/>
          </a:xfrm>
        </p:spPr>
        <p:txBody>
          <a:bodyPr/>
          <a:lstStyle/>
          <a:p>
            <a:pPr eaLnBrk="1" hangingPunct="1"/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Операція над парою елементів поля 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a 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і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 b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 визначена, як замкнена узагальнена операція, тобто, як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певний спосіб постановки елемента 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h 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поля у відповідність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парі 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a 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і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 b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 того ж поля</a:t>
            </a:r>
          </a:p>
          <a:p>
            <a:pPr eaLnBrk="1" hangingPunct="1"/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			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(a) 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Оп.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j (b) = (b) 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Оп.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j (a) = h</a:t>
            </a:r>
            <a:endParaRPr lang="ru-RU" sz="300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endParaRPr lang="en-US" sz="280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Комутативність прямих операцій над 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a 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і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 b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 .</a:t>
            </a:r>
            <a:endParaRPr lang="en-US" sz="280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Операції задані на базі зрівнянь за (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mod </a:t>
            </a:r>
            <a:r>
              <a:rPr lang="en-US" sz="2800" i="1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uk-UA" sz="2800" smtClean="0">
                <a:solidFill>
                  <a:srgbClr val="154B27"/>
                </a:solidFill>
                <a:latin typeface="Comic Sans MS" pitchFamily="66" charset="0"/>
              </a:rPr>
              <a:t>) .</a:t>
            </a:r>
            <a:endParaRPr lang="ru-RU" sz="280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grpSp>
        <p:nvGrpSpPr>
          <p:cNvPr id="14343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1434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434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53AC444-016F-4859-B7D6-D6EA44E00DF8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5363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087563" y="6245225"/>
            <a:ext cx="5400675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536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0FCD72-06A0-495E-A578-38DE4698068E}" type="slidenum">
              <a:rPr lang="ru-RU" smtClean="0"/>
              <a:pPr/>
              <a:t>13</a:t>
            </a:fld>
            <a:endParaRPr lang="ru-RU" smtClean="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Операція взяття числа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g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за (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mod </a:t>
            </a:r>
            <a:r>
              <a:rPr lang="en-US" i="1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uk-UA" smtClean="0">
                <a:solidFill>
                  <a:srgbClr val="154B27"/>
                </a:solidFill>
                <a:latin typeface="Comic Sans MS" pitchFamily="66" charset="0"/>
              </a:rPr>
              <a:t>)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полягає у багатократному відніманні модуля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 p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від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g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до отримання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h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</a:p>
          <a:p>
            <a:pPr eaLnBrk="1" hangingPunct="1">
              <a:buFontTx/>
              <a:buNone/>
            </a:pPr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				</a:t>
            </a:r>
            <a:r>
              <a:rPr lang="en-US" smtClean="0">
                <a:solidFill>
                  <a:srgbClr val="1D6535"/>
                </a:solidFill>
                <a:latin typeface="Comic Sans MS" pitchFamily="66" charset="0"/>
              </a:rPr>
              <a:t>0 ≤ h &lt; p</a:t>
            </a:r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.</a:t>
            </a:r>
            <a:endParaRPr lang="en-US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Інший запис операції:  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h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=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g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–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jp</a:t>
            </a:r>
            <a:r>
              <a:rPr lang="uk-UA" smtClean="0">
                <a:solidFill>
                  <a:srgbClr val="154B27"/>
                </a:solidFill>
                <a:latin typeface="Comic Sans MS" pitchFamily="66" charset="0"/>
              </a:rPr>
              <a:t> .</a:t>
            </a:r>
            <a:endParaRPr lang="ru-RU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Часто це подають у формі зрівняння із теорії чисел  </a:t>
            </a:r>
          </a:p>
        </p:txBody>
      </p:sp>
      <p:grpSp>
        <p:nvGrpSpPr>
          <p:cNvPr id="15367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15369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5370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3492500" y="5370513"/>
            <a:ext cx="273685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320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(g </a:t>
            </a:r>
            <a:r>
              <a:rPr lang="en-US" sz="3200">
                <a:solidFill>
                  <a:srgbClr val="1D6535"/>
                </a:solidFill>
              </a:rPr>
              <a:t>≡</a:t>
            </a:r>
            <a:r>
              <a:rPr lang="ru-RU"/>
              <a:t> </a:t>
            </a:r>
            <a:r>
              <a:rPr lang="en-US" sz="320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h) mod p</a:t>
            </a:r>
            <a:r>
              <a:rPr lang="ru-RU">
                <a:latin typeface="Comic Sans MS" pitchFamily="66" charset="0"/>
              </a:rPr>
              <a:t> 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AFE5E8F7-67D0-4271-B19C-3A385440F5F0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6387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24075" y="6245225"/>
            <a:ext cx="536416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6388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F30702-5E7A-4539-AE96-B7876795E551}" type="slidenum">
              <a:rPr lang="ru-RU" smtClean="0"/>
              <a:pPr/>
              <a:t>14</a:t>
            </a:fld>
            <a:endParaRPr lang="ru-RU" smtClean="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Інша форма 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пода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ння операції взяття числа 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g 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за (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</a:t>
            </a:r>
            <a:r>
              <a:rPr lang="en-US" sz="3000" i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uk-UA" sz="300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,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з отриманням 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h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як результата, заснована на визначенні ділення 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</a:rPr>
              <a:t>g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на 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</a:rPr>
              <a:t>p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, як скороченого запису багатократного віднімання 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</a:rPr>
              <a:t>p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від 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</a:rPr>
              <a:t>g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			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g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   	   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endParaRPr lang="ru-RU" sz="280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				     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j</a:t>
            </a:r>
          </a:p>
          <a:p>
            <a:pPr eaLnBrk="1" hangingPunct="1">
              <a:buFontTx/>
              <a:buNone/>
            </a:pP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				</a:t>
            </a:r>
          </a:p>
          <a:p>
            <a:pPr eaLnBrk="1" hangingPunct="1">
              <a:buFontTx/>
              <a:buNone/>
            </a:pP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				</a:t>
            </a:r>
            <a:r>
              <a:rPr lang="en-US" sz="2800" b="1" smtClean="0">
                <a:solidFill>
                  <a:srgbClr val="154B27"/>
                </a:solidFill>
                <a:latin typeface="Comic Sans MS" pitchFamily="66" charset="0"/>
              </a:rPr>
              <a:t>h</a:t>
            </a:r>
            <a:endParaRPr lang="ru-RU" sz="2800" b="1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grpSp>
        <p:nvGrpSpPr>
          <p:cNvPr id="16391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16401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402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grpSp>
        <p:nvGrpSpPr>
          <p:cNvPr id="16392" name="Group 15"/>
          <p:cNvGrpSpPr>
            <a:grpSpLocks/>
          </p:cNvGrpSpPr>
          <p:nvPr/>
        </p:nvGrpSpPr>
        <p:grpSpPr bwMode="auto">
          <a:xfrm>
            <a:off x="2447925" y="4149725"/>
            <a:ext cx="2160588" cy="1152525"/>
            <a:chOff x="1565" y="2568"/>
            <a:chExt cx="1361" cy="726"/>
          </a:xfrm>
        </p:grpSpPr>
        <p:grpSp>
          <p:nvGrpSpPr>
            <p:cNvPr id="16393" name="Group 13"/>
            <p:cNvGrpSpPr>
              <a:grpSpLocks/>
            </p:cNvGrpSpPr>
            <p:nvPr/>
          </p:nvGrpSpPr>
          <p:grpSpPr bwMode="auto">
            <a:xfrm>
              <a:off x="1565" y="2568"/>
              <a:ext cx="1361" cy="680"/>
              <a:chOff x="1565" y="2659"/>
              <a:chExt cx="1361" cy="680"/>
            </a:xfrm>
          </p:grpSpPr>
          <p:grpSp>
            <p:nvGrpSpPr>
              <p:cNvPr id="16395" name="Group 9"/>
              <p:cNvGrpSpPr>
                <a:grpSpLocks/>
              </p:cNvGrpSpPr>
              <p:nvPr/>
            </p:nvGrpSpPr>
            <p:grpSpPr bwMode="auto">
              <a:xfrm>
                <a:off x="2200" y="2659"/>
                <a:ext cx="726" cy="590"/>
                <a:chOff x="1791" y="2568"/>
                <a:chExt cx="726" cy="590"/>
              </a:xfrm>
            </p:grpSpPr>
            <p:sp>
              <p:nvSpPr>
                <p:cNvPr id="16399" name="Line 7"/>
                <p:cNvSpPr>
                  <a:spLocks noChangeShapeType="1"/>
                </p:cNvSpPr>
                <p:nvPr/>
              </p:nvSpPr>
              <p:spPr bwMode="auto">
                <a:xfrm>
                  <a:off x="1791" y="2568"/>
                  <a:ext cx="0" cy="59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uk-UA"/>
                </a:p>
              </p:txBody>
            </p:sp>
            <p:sp>
              <p:nvSpPr>
                <p:cNvPr id="16400" name="Line 8"/>
                <p:cNvSpPr>
                  <a:spLocks noChangeShapeType="1"/>
                </p:cNvSpPr>
                <p:nvPr/>
              </p:nvSpPr>
              <p:spPr bwMode="auto">
                <a:xfrm>
                  <a:off x="1791" y="2840"/>
                  <a:ext cx="72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uk-UA"/>
                </a:p>
              </p:txBody>
            </p:sp>
          </p:grpSp>
          <p:sp>
            <p:nvSpPr>
              <p:cNvPr id="16396" name="Oval 10"/>
              <p:cNvSpPr>
                <a:spLocks noChangeArrowheads="1"/>
              </p:cNvSpPr>
              <p:nvPr/>
            </p:nvSpPr>
            <p:spPr bwMode="auto">
              <a:xfrm>
                <a:off x="1565" y="2976"/>
                <a:ext cx="90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uk-UA"/>
              </a:p>
            </p:txBody>
          </p:sp>
          <p:sp>
            <p:nvSpPr>
              <p:cNvPr id="16397" name="Oval 11"/>
              <p:cNvSpPr>
                <a:spLocks noChangeArrowheads="1"/>
              </p:cNvSpPr>
              <p:nvPr/>
            </p:nvSpPr>
            <p:spPr bwMode="auto">
              <a:xfrm>
                <a:off x="1701" y="3112"/>
                <a:ext cx="90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uk-UA"/>
              </a:p>
            </p:txBody>
          </p:sp>
          <p:sp>
            <p:nvSpPr>
              <p:cNvPr id="16398" name="Oval 12"/>
              <p:cNvSpPr>
                <a:spLocks noChangeArrowheads="1"/>
              </p:cNvSpPr>
              <p:nvPr/>
            </p:nvSpPr>
            <p:spPr bwMode="auto">
              <a:xfrm>
                <a:off x="1837" y="3248"/>
                <a:ext cx="90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uk-UA"/>
              </a:p>
            </p:txBody>
          </p:sp>
        </p:grpSp>
        <p:sp>
          <p:nvSpPr>
            <p:cNvPr id="16394" name="Line 14"/>
            <p:cNvSpPr>
              <a:spLocks noChangeShapeType="1"/>
            </p:cNvSpPr>
            <p:nvPr/>
          </p:nvSpPr>
          <p:spPr bwMode="auto">
            <a:xfrm>
              <a:off x="1746" y="3294"/>
              <a:ext cx="4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4AFDB91-57CB-4881-8092-03FD3FBA858E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7411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24075" y="6245225"/>
            <a:ext cx="536416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741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1BA88BB-A3DF-4C71-8769-FABE3A7EFE56}" type="slidenum">
              <a:rPr lang="ru-RU" smtClean="0"/>
              <a:pPr/>
              <a:t>15</a:t>
            </a:fld>
            <a:endParaRPr lang="ru-RU" smtClean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900" y="1600200"/>
            <a:ext cx="8748713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sz="300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endParaRPr lang="en-US" sz="300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endParaRPr lang="en-US" sz="300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endParaRPr lang="en-US" sz="300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endParaRPr lang="en-US" sz="300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endParaRPr lang="en-US" sz="300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endParaRPr lang="uk-UA" sz="3000" smtClean="0">
              <a:latin typeface="Comic Sans MS" pitchFamily="66" charset="0"/>
            </a:endParaRPr>
          </a:p>
          <a:p>
            <a:pPr eaLnBrk="1" hangingPunct="1"/>
            <a:r>
              <a:rPr lang="uk-UA" sz="2600" smtClean="0">
                <a:latin typeface="Comic Sans MS" pitchFamily="66" charset="0"/>
              </a:rPr>
              <a:t>Узагальнене поняття замкненої бінарної операції</a:t>
            </a:r>
            <a:r>
              <a:rPr lang="uk-UA" sz="2400" smtClean="0">
                <a:latin typeface="Comic Sans MS" pitchFamily="66" charset="0"/>
              </a:rPr>
              <a:t> </a:t>
            </a:r>
            <a:endParaRPr lang="ru-RU" sz="240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			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   </a:t>
            </a:r>
            <a:endParaRPr lang="ru-RU" sz="2800" b="1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grpSp>
        <p:nvGrpSpPr>
          <p:cNvPr id="17415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17417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7418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pic>
        <p:nvPicPr>
          <p:cNvPr id="17416" name="Picture 1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6263" y="1665288"/>
            <a:ext cx="7848600" cy="345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2D4DC17-935B-450F-9D38-DC45A80B3A6B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843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24075" y="6245225"/>
            <a:ext cx="547211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8436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900C40B-64BE-4E13-8D99-7B82AEDD08FB}" type="slidenum">
              <a:rPr lang="ru-RU" smtClean="0"/>
              <a:pPr/>
              <a:t>16</a:t>
            </a:fld>
            <a:endParaRPr lang="ru-RU" smtClean="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431800" y="368300"/>
            <a:ext cx="8229600" cy="540420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00200"/>
            <a:ext cx="8497887" cy="4525963"/>
          </a:xfrm>
        </p:spPr>
        <p:txBody>
          <a:bodyPr/>
          <a:lstStyle/>
          <a:p>
            <a:pPr eaLnBrk="1" hangingPunct="1"/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Операція додавання «+», пряма</a:t>
            </a:r>
          </a:p>
          <a:p>
            <a:pPr eaLnBrk="1" hangingPunct="1">
              <a:buFontTx/>
              <a:buNone/>
            </a:pP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			(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a 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+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 b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ru-RU" smtClean="0"/>
              <a:t>=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(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+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en-US" smtClean="0"/>
              <a:t>≡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h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mtClean="0">
                <a:solidFill>
                  <a:srgbClr val="154B27"/>
                </a:solidFill>
                <a:latin typeface="Comic Sans MS" pitchFamily="66" charset="0"/>
              </a:rPr>
              <a:t>mod p</a:t>
            </a:r>
            <a:endParaRPr lang="ru-RU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Наприклад, для </a:t>
            </a:r>
            <a:r>
              <a:rPr lang="en-US" sz="280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 = 19</a:t>
            </a:r>
          </a:p>
          <a:p>
            <a:pPr eaLnBrk="1" hangingPunct="1">
              <a:buFontTx/>
              <a:buNone/>
            </a:pP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		</a:t>
            </a:r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7 + 10 = 10 + 7 </a:t>
            </a:r>
            <a:r>
              <a:rPr lang="en-US" smtClean="0">
                <a:solidFill>
                  <a:srgbClr val="1D6535"/>
                </a:solidFill>
                <a:latin typeface="Comic Sans MS" pitchFamily="66" charset="0"/>
              </a:rPr>
              <a:t>= 17 </a:t>
            </a:r>
            <a:r>
              <a:rPr lang="en-US" smtClean="0">
                <a:solidFill>
                  <a:srgbClr val="1D6535"/>
                </a:solidFill>
              </a:rPr>
              <a:t>≡</a:t>
            </a:r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 17</a:t>
            </a:r>
            <a:r>
              <a:rPr lang="en-US" smtClean="0">
                <a:solidFill>
                  <a:srgbClr val="1D6535"/>
                </a:solidFill>
                <a:latin typeface="Comic Sans MS" pitchFamily="66" charset="0"/>
              </a:rPr>
              <a:t> mod </a:t>
            </a:r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19</a:t>
            </a:r>
          </a:p>
          <a:p>
            <a:pPr eaLnBrk="1" hangingPunct="1">
              <a:buFontTx/>
              <a:buNone/>
            </a:pP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		</a:t>
            </a:r>
            <a:r>
              <a:rPr lang="ru-RU" smtClean="0">
                <a:solidFill>
                  <a:srgbClr val="154B27"/>
                </a:solidFill>
                <a:latin typeface="Comic Sans MS" pitchFamily="66" charset="0"/>
              </a:rPr>
              <a:t>16</a:t>
            </a:r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 + 12 = 12 + 16 = 28 </a:t>
            </a:r>
            <a:r>
              <a:rPr lang="en-US" smtClean="0">
                <a:solidFill>
                  <a:srgbClr val="1D6535"/>
                </a:solidFill>
              </a:rPr>
              <a:t>≡</a:t>
            </a:r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 9</a:t>
            </a:r>
            <a:r>
              <a:rPr lang="en-US" smtClean="0">
                <a:solidFill>
                  <a:srgbClr val="1D6535"/>
                </a:solidFill>
                <a:latin typeface="Comic Sans MS" pitchFamily="66" charset="0"/>
              </a:rPr>
              <a:t> mod </a:t>
            </a:r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19</a:t>
            </a:r>
            <a:endParaRPr lang="ru-RU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mtClean="0">
                <a:solidFill>
                  <a:srgbClr val="1D6535"/>
                </a:solidFill>
                <a:latin typeface="Comic Sans MS" pitchFamily="66" charset="0"/>
              </a:rPr>
              <a:t> елементи 17 и 9 належать полю 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(19)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и є результатами виконання операцій </a:t>
            </a:r>
            <a:r>
              <a:rPr lang="ru-RU" sz="2800" smtClean="0">
                <a:solidFill>
                  <a:srgbClr val="154B27"/>
                </a:solidFill>
                <a:latin typeface="Comic Sans MS" pitchFamily="66" charset="0"/>
              </a:rPr>
              <a:t>«+»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         </a:t>
            </a:r>
            <a:r>
              <a:rPr lang="ru-RU" sz="3000" u="sng" smtClean="0">
                <a:solidFill>
                  <a:srgbClr val="154B27"/>
                </a:solidFill>
                <a:latin typeface="Comic Sans MS" pitchFamily="66" charset="0"/>
              </a:rPr>
              <a:t>у цих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 прикладах.</a:t>
            </a:r>
          </a:p>
        </p:txBody>
      </p:sp>
      <p:grpSp>
        <p:nvGrpSpPr>
          <p:cNvPr id="18439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18440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8441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86905A4-E2F2-46E4-AA1C-DA553C26BC69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1945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95513" y="6245225"/>
            <a:ext cx="5292725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1946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25D7767-8D4E-4594-BA15-1AAB06186E75}" type="slidenum">
              <a:rPr lang="ru-RU" smtClean="0"/>
              <a:pPr/>
              <a:t>17</a:t>
            </a:fld>
            <a:endParaRPr lang="ru-RU" smtClean="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08163"/>
            <a:ext cx="8229600" cy="4318000"/>
          </a:xfrm>
        </p:spPr>
        <p:txBody>
          <a:bodyPr/>
          <a:lstStyle/>
          <a:p>
            <a:pPr eaLnBrk="1" hangingPunct="1"/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Операція множення «*», пряма</a:t>
            </a:r>
          </a:p>
          <a:p>
            <a:pPr eaLnBrk="1" hangingPunct="1">
              <a:buFontTx/>
              <a:buNone/>
            </a:pP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			(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a 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*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 b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) = (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 * 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en-US" sz="3000" smtClean="0">
                <a:latin typeface="Comic Sans MS" pitchFamily="66" charset="0"/>
              </a:rPr>
              <a:t>≡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h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mod p</a:t>
            </a:r>
            <a:endParaRPr lang="ru-RU" sz="300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Наприклад, для 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 = 19 маємо</a:t>
            </a:r>
          </a:p>
          <a:p>
            <a:pPr eaLnBrk="1" hangingPunct="1">
              <a:buFontTx/>
              <a:buNone/>
            </a:pP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		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7 * 10 = 10 * 7 = 70 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</a:rPr>
              <a:t>≡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13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</a:rPr>
              <a:t> mod 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19</a:t>
            </a:r>
          </a:p>
          <a:p>
            <a:pPr eaLnBrk="1" hangingPunct="1">
              <a:buFontTx/>
              <a:buNone/>
            </a:pP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		16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* 12 = 12 * 16 = 192 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</a:rPr>
              <a:t>≡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2</a:t>
            </a:r>
            <a:r>
              <a:rPr lang="en-US" sz="3000" smtClean="0">
                <a:solidFill>
                  <a:srgbClr val="1D6535"/>
                </a:solidFill>
                <a:latin typeface="Comic Sans MS" pitchFamily="66" charset="0"/>
              </a:rPr>
              <a:t> mod </a:t>
            </a:r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19</a:t>
            </a:r>
            <a:endParaRPr lang="ru-RU" sz="300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000" smtClean="0">
                <a:solidFill>
                  <a:srgbClr val="1D6535"/>
                </a:solidFill>
                <a:latin typeface="Comic Sans MS" pitchFamily="66" charset="0"/>
              </a:rPr>
              <a:t> елементи 13 і 2 належать полю 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(19)    </a:t>
            </a:r>
            <a:r>
              <a:rPr lang="en-US" sz="300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і є результатами виконання операцій «*»         </a:t>
            </a:r>
            <a:r>
              <a:rPr lang="ru-RU" sz="3000" u="sng" smtClean="0">
                <a:solidFill>
                  <a:srgbClr val="154B27"/>
                </a:solidFill>
                <a:latin typeface="Comic Sans MS" pitchFamily="66" charset="0"/>
              </a:rPr>
              <a:t>у цих</a:t>
            </a:r>
            <a:r>
              <a:rPr lang="ru-RU" sz="3000" smtClean="0">
                <a:solidFill>
                  <a:srgbClr val="154B27"/>
                </a:solidFill>
                <a:latin typeface="Comic Sans MS" pitchFamily="66" charset="0"/>
              </a:rPr>
              <a:t> прикладах.</a:t>
            </a:r>
            <a:endParaRPr lang="ru-RU" sz="3000" smtClean="0">
              <a:latin typeface="Comic Sans MS" pitchFamily="66" charset="0"/>
            </a:endParaRPr>
          </a:p>
        </p:txBody>
      </p:sp>
      <p:grpSp>
        <p:nvGrpSpPr>
          <p:cNvPr id="19463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1946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946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8F977AA1-A798-456A-8F50-EA82DBD53FF6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0483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95513" y="6245225"/>
            <a:ext cx="5472112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048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FAEF5E0-E51F-48B7-BAB8-0579893C12F1}" type="slidenum">
              <a:rPr lang="ru-RU" smtClean="0"/>
              <a:pPr/>
              <a:t>18</a:t>
            </a:fld>
            <a:endParaRPr lang="ru-RU" smtClean="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773238"/>
            <a:ext cx="8568952" cy="4352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(-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обернений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до (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) за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додаванням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Це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такий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поля (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множини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2800" dirty="0" err="1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en-US" sz="2800" baseline="-25000" dirty="0" err="1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), для </a:t>
            </a:r>
            <a:r>
              <a:rPr lang="uk-UA" sz="2800" dirty="0" smtClean="0">
                <a:solidFill>
                  <a:srgbClr val="154B27"/>
                </a:solidFill>
                <a:latin typeface="Comic Sans MS" pitchFamily="66" charset="0"/>
              </a:rPr>
              <a:t>як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ого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справедливим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зрівняння</a:t>
            </a:r>
            <a:endParaRPr lang="ru-RU" sz="28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				 (-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) + 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2800" dirty="0" smtClean="0">
                <a:solidFill>
                  <a:srgbClr val="1D6535"/>
                </a:solidFill>
              </a:rPr>
              <a:t>≡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0</a:t>
            </a:r>
            <a:r>
              <a:rPr lang="en-US" sz="2800" dirty="0" smtClean="0">
                <a:solidFill>
                  <a:srgbClr val="000000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</a:rPr>
              <a:t>p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.</a:t>
            </a:r>
            <a:endParaRPr lang="ru-RU" sz="28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Наприклад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, при 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= 19,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	7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обернений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до 12 за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додаванням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тобто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			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7 + 12 = 19 </a:t>
            </a:r>
            <a:r>
              <a:rPr lang="en-US" sz="2800" dirty="0" smtClean="0">
                <a:solidFill>
                  <a:srgbClr val="1D6535"/>
                </a:solidFill>
              </a:rPr>
              <a:t>≡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0</a:t>
            </a:r>
            <a:r>
              <a:rPr lang="en-US" sz="2800" dirty="0" smtClean="0">
                <a:solidFill>
                  <a:srgbClr val="000000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19 .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latin typeface="Comic Sans MS" pitchFamily="66" charset="0"/>
              </a:rPr>
              <a:t>	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5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обернений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до 14 за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додаванням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тобто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:</a:t>
            </a:r>
            <a:endParaRPr lang="ru-RU" sz="2800" dirty="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			5 + 14 = 19 </a:t>
            </a:r>
            <a:r>
              <a:rPr lang="en-US" sz="2800" dirty="0" smtClean="0">
                <a:solidFill>
                  <a:srgbClr val="1D6535"/>
                </a:solidFill>
              </a:rPr>
              <a:t>≡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0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</a:rPr>
              <a:t> mod 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19 .</a:t>
            </a:r>
          </a:p>
        </p:txBody>
      </p:sp>
      <p:grpSp>
        <p:nvGrpSpPr>
          <p:cNvPr id="20487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0488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0489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2161B8CE-F55A-41E8-9958-E2D1A73F2D07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1507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59000" y="6245225"/>
            <a:ext cx="5257800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1508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CD22CF2-B577-4BEC-BC4F-FB9FF5AFC9F3}" type="slidenum">
              <a:rPr lang="ru-RU" smtClean="0"/>
              <a:pPr/>
              <a:t>19</a:t>
            </a:fld>
            <a:endParaRPr lang="ru-RU" smtClean="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2800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обернений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до 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2800" dirty="0" smtClean="0">
                <a:solidFill>
                  <a:srgbClr val="154B27"/>
                </a:solidFill>
                <a:cs typeface="Arial" charset="0"/>
              </a:rPr>
              <a:t>≠</a:t>
            </a:r>
            <a:r>
              <a:rPr lang="ru-RU" sz="2800" dirty="0" smtClean="0">
                <a:solidFill>
                  <a:srgbClr val="154B27"/>
                </a:solidFill>
                <a:cs typeface="Arial" charset="0"/>
              </a:rPr>
              <a:t> 0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за опер. «*» .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Це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такий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підполя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(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множини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2800" dirty="0" smtClean="0">
                <a:solidFill>
                  <a:srgbClr val="3822DC"/>
                </a:solidFill>
                <a:latin typeface="Comic Sans MS" pitchFamily="66" charset="0"/>
              </a:rPr>
              <a:t>M</a:t>
            </a:r>
            <a:r>
              <a:rPr lang="uk-UA" sz="2800" baseline="-25000" dirty="0" smtClean="0">
                <a:solidFill>
                  <a:srgbClr val="3822DC"/>
                </a:solidFill>
                <a:latin typeface="Comic Sans MS" pitchFamily="66" charset="0"/>
              </a:rPr>
              <a:t>p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), для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якого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справедливим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зрівняння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				 (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2800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) * 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a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2800" dirty="0" smtClean="0">
                <a:solidFill>
                  <a:srgbClr val="1D6535"/>
                </a:solidFill>
              </a:rPr>
              <a:t>≡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1</a:t>
            </a:r>
            <a:r>
              <a:rPr lang="en-US" sz="2800" dirty="0" smtClean="0">
                <a:solidFill>
                  <a:srgbClr val="000000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p</a:t>
            </a:r>
            <a:r>
              <a:rPr lang="uk-UA" sz="28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.</a:t>
            </a:r>
            <a:endParaRPr lang="ru-RU" sz="28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Наприклад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, при 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= 19,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	8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є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обернений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до 12 за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множенням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тобто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			8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* 12 = 96 </a:t>
            </a:r>
            <a:r>
              <a:rPr lang="en-US" sz="2800" dirty="0" smtClean="0">
                <a:solidFill>
                  <a:srgbClr val="1D6535"/>
                </a:solidFill>
              </a:rPr>
              <a:t>≡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1</a:t>
            </a:r>
            <a:r>
              <a:rPr lang="en-US" sz="2800" dirty="0" smtClean="0">
                <a:solidFill>
                  <a:srgbClr val="000000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19 .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latin typeface="Comic Sans MS" pitchFamily="66" charset="0"/>
              </a:rPr>
              <a:t>	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6 </a:t>
            </a:r>
            <a:r>
              <a:rPr lang="ru-RU" sz="2800" dirty="0" err="1" smtClean="0">
                <a:solidFill>
                  <a:srgbClr val="1D6535"/>
                </a:solidFill>
                <a:latin typeface="Comic Sans MS" pitchFamily="66" charset="0"/>
              </a:rPr>
              <a:t>є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обернений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 до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16 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за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множенням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ru-RU" sz="2800" dirty="0" err="1" smtClean="0">
                <a:solidFill>
                  <a:srgbClr val="154B27"/>
                </a:solidFill>
                <a:latin typeface="Comic Sans MS" pitchFamily="66" charset="0"/>
              </a:rPr>
              <a:t>тобто</a:t>
            </a:r>
            <a:r>
              <a:rPr lang="ru-RU" sz="2800" dirty="0" smtClean="0">
                <a:solidFill>
                  <a:srgbClr val="154B27"/>
                </a:solidFill>
                <a:latin typeface="Comic Sans MS" pitchFamily="66" charset="0"/>
              </a:rPr>
              <a:t>:</a:t>
            </a:r>
            <a:endParaRPr lang="ru-RU" sz="2800" dirty="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			6 * 16 = 96 </a:t>
            </a:r>
            <a:r>
              <a:rPr lang="en-US" sz="2800" dirty="0" smtClean="0">
                <a:solidFill>
                  <a:srgbClr val="1D6535"/>
                </a:solidFill>
              </a:rPr>
              <a:t>≡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 1</a:t>
            </a:r>
            <a:r>
              <a:rPr lang="en-US" sz="2800" dirty="0" smtClean="0">
                <a:solidFill>
                  <a:srgbClr val="1D6535"/>
                </a:solidFill>
                <a:latin typeface="Comic Sans MS" pitchFamily="66" charset="0"/>
              </a:rPr>
              <a:t> mod </a:t>
            </a:r>
            <a:r>
              <a:rPr lang="ru-RU" sz="2800" dirty="0" smtClean="0">
                <a:solidFill>
                  <a:srgbClr val="1D6535"/>
                </a:solidFill>
                <a:latin typeface="Comic Sans MS" pitchFamily="66" charset="0"/>
              </a:rPr>
              <a:t>19 .</a:t>
            </a:r>
          </a:p>
          <a:p>
            <a:pPr eaLnBrk="1" hangingPunct="1">
              <a:lnSpc>
                <a:spcPct val="90000"/>
              </a:lnSpc>
            </a:pPr>
            <a:endParaRPr lang="ru-RU" sz="2800" dirty="0" smtClean="0"/>
          </a:p>
        </p:txBody>
      </p:sp>
      <p:grpSp>
        <p:nvGrpSpPr>
          <p:cNvPr id="21511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1512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1513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EE00E77-A8A8-41B8-A75D-FA3CFA6637AD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2531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24075" y="6245225"/>
            <a:ext cx="5400675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253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027687-229E-4142-AEEE-FEC82F27C84F}" type="slidenum">
              <a:rPr lang="ru-RU" smtClean="0"/>
              <a:pPr/>
              <a:t>20</a:t>
            </a:fld>
            <a:endParaRPr lang="ru-RU" smtClean="0"/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08163"/>
            <a:ext cx="8291513" cy="4318000"/>
          </a:xfrm>
        </p:spPr>
        <p:txBody>
          <a:bodyPr/>
          <a:lstStyle/>
          <a:p>
            <a:pPr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віднімання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«-»,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обернена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до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складання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додаткова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Процедура: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a – b = a + (-b) = d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  <a:endParaRPr lang="en-US" sz="36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Вимагає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обернення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600" dirty="0" smtClean="0"/>
              <a:t>від'ємника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b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: </a:t>
            </a: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із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треба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отримати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-b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</a:p>
        </p:txBody>
      </p:sp>
      <p:grpSp>
        <p:nvGrpSpPr>
          <p:cNvPr id="22535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2536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2537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4BF67364-0C94-49C6-A42A-CB7AA55CD4A7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355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051050" y="6245225"/>
            <a:ext cx="5400675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3556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5DCEA6-C49F-4AE6-A89E-4C6ABBDD005E}" type="slidenum">
              <a:rPr lang="ru-RU" smtClean="0"/>
              <a:pPr/>
              <a:t>21</a:t>
            </a:fld>
            <a:endParaRPr lang="ru-RU" smtClean="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755811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pPr eaLnBrk="1" hangingPunct="1"/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Приклад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віднімання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при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= 19:</a:t>
            </a: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		8 – 17 = 8 + (-17) 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mod 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19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,</a:t>
            </a:r>
          </a:p>
          <a:p>
            <a:pPr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Знаходимо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поля,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обернений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за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додаванням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до 17:</a:t>
            </a: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		(-17) = (19 – 17) </a:t>
            </a:r>
            <a:r>
              <a:rPr lang="ru-RU" sz="3600" dirty="0" smtClean="0">
                <a:solidFill>
                  <a:srgbClr val="154B27"/>
                </a:solidFill>
                <a:latin typeface="Calibri" pitchFamily="34" charset="0"/>
              </a:rPr>
              <a:t>≡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2 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19</a:t>
            </a:r>
          </a:p>
          <a:p>
            <a:pPr eaLnBrk="1" hangingPunct="1"/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Отримаємо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остаточно:</a:t>
            </a: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	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8 – 17 = 8 + (-17) = 8 + 2 </a:t>
            </a:r>
            <a:r>
              <a:rPr lang="ru-RU" sz="3600" dirty="0" smtClean="0">
                <a:solidFill>
                  <a:srgbClr val="154B27"/>
                </a:solidFill>
                <a:latin typeface="Calibri" pitchFamily="34" charset="0"/>
              </a:rPr>
              <a:t>≡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10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mod 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19.</a:t>
            </a:r>
          </a:p>
        </p:txBody>
      </p:sp>
      <p:grpSp>
        <p:nvGrpSpPr>
          <p:cNvPr id="23559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3560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3561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BA8322D1-0490-4249-A281-FEA04C403700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457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24075" y="6245225"/>
            <a:ext cx="504031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458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C48EB53-8607-4D0F-B089-C26B80346C44}" type="slidenum">
              <a:rPr lang="ru-RU" smtClean="0"/>
              <a:pPr/>
              <a:t>22</a:t>
            </a:fld>
            <a:endParaRPr lang="ru-RU" smtClean="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>
          <a:xfrm>
            <a:off x="503548" y="404664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60575"/>
            <a:ext cx="8388350" cy="3924300"/>
          </a:xfrm>
        </p:spPr>
        <p:txBody>
          <a:bodyPr/>
          <a:lstStyle/>
          <a:p>
            <a:pPr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ділення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«/»,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обернена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до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множення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,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додаткова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Процедура: 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a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/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b = a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*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(b</a:t>
            </a:r>
            <a:r>
              <a:rPr lang="ru-RU" sz="3600" baseline="30000" dirty="0" smtClean="0">
                <a:solidFill>
                  <a:srgbClr val="1D6535"/>
                </a:solidFill>
                <a:latin typeface="Comic Sans MS" pitchFamily="66" charset="0"/>
              </a:rPr>
              <a:t>-1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)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= d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  <a:endParaRPr lang="en-US" sz="36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Вимагає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обернення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дільника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: </a:t>
            </a: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  			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із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b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треба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отримати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b</a:t>
            </a:r>
            <a:r>
              <a:rPr lang="ru-RU" sz="3600" baseline="30000" dirty="0" smtClean="0">
                <a:solidFill>
                  <a:srgbClr val="1D6535"/>
                </a:solidFill>
                <a:latin typeface="Comic Sans MS" pitchFamily="66" charset="0"/>
              </a:rPr>
              <a:t>-1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</a:p>
        </p:txBody>
      </p:sp>
      <p:grpSp>
        <p:nvGrpSpPr>
          <p:cNvPr id="24583" name="Group 4"/>
          <p:cNvGrpSpPr>
            <a:grpSpLocks/>
          </p:cNvGrpSpPr>
          <p:nvPr/>
        </p:nvGrpSpPr>
        <p:grpSpPr bwMode="auto">
          <a:xfrm>
            <a:off x="250825" y="404813"/>
            <a:ext cx="8064500" cy="1827212"/>
            <a:chOff x="612" y="1525"/>
            <a:chExt cx="4626" cy="1361"/>
          </a:xfrm>
        </p:grpSpPr>
        <p:sp>
          <p:nvSpPr>
            <p:cNvPr id="2458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458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A3E11348-ADC8-463C-A991-5191B5A38F1F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5603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232025" y="6245225"/>
            <a:ext cx="504031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560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7B4C33-9C5C-4DB3-9EB6-6416D54083B8}" type="slidenum">
              <a:rPr lang="ru-RU" smtClean="0"/>
              <a:pPr/>
              <a:t>23</a:t>
            </a:fld>
            <a:endParaRPr lang="ru-RU" smtClean="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>
          <a:xfrm>
            <a:off x="431540" y="368660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2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532" y="1556792"/>
            <a:ext cx="8435975" cy="4525963"/>
          </a:xfrm>
        </p:spPr>
        <p:txBody>
          <a:bodyPr/>
          <a:lstStyle/>
          <a:p>
            <a:pPr eaLnBrk="1" hangingPunct="1"/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Приклад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ділення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при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= 19:</a:t>
            </a:r>
          </a:p>
          <a:p>
            <a:pPr eaLnBrk="1" hangingPunct="1">
              <a:buFontTx/>
              <a:buNone/>
            </a:pP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		8 / 17 </a:t>
            </a:r>
            <a:r>
              <a:rPr lang="ru-RU" dirty="0" smtClean="0">
                <a:solidFill>
                  <a:srgbClr val="154B27"/>
                </a:solidFill>
                <a:latin typeface="Calibri" pitchFamily="34" charset="0"/>
              </a:rPr>
              <a:t>≡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8 * (17</a:t>
            </a:r>
            <a:r>
              <a:rPr lang="ru-RU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mod 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19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,</a:t>
            </a:r>
          </a:p>
          <a:p>
            <a:pPr eaLnBrk="1" hangingPunct="1"/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Знаходимо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елемент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поля,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обернений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за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множенням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до 17:</a:t>
            </a:r>
          </a:p>
          <a:p>
            <a:pPr eaLnBrk="1" hangingPunct="1">
              <a:buFontTx/>
              <a:buNone/>
            </a:pP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			 (17</a:t>
            </a:r>
            <a:r>
              <a:rPr lang="ru-RU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) * 17 </a:t>
            </a:r>
            <a:r>
              <a:rPr lang="en-US" dirty="0" smtClean="0">
                <a:solidFill>
                  <a:srgbClr val="1D6535"/>
                </a:solidFill>
              </a:rPr>
              <a:t>≡</a:t>
            </a:r>
            <a:r>
              <a:rPr lang="ru-RU" dirty="0" smtClean="0">
                <a:solidFill>
                  <a:srgbClr val="1D6535"/>
                </a:solidFill>
              </a:rPr>
              <a:t> 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1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19,</a:t>
            </a:r>
          </a:p>
          <a:p>
            <a:pPr eaLnBrk="1" hangingPunct="1">
              <a:buFontTx/>
              <a:buNone/>
            </a:pP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	 	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(17</a:t>
            </a:r>
            <a:r>
              <a:rPr lang="ru-RU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) * 17 = 1 +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j•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19,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звідки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маємо</a:t>
            </a:r>
            <a:endParaRPr lang="ru-RU" dirty="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(17</a:t>
            </a:r>
            <a:r>
              <a:rPr lang="ru-RU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) = (1 +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j•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19)/17, напр., перебором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j </a:t>
            </a:r>
            <a:r>
              <a:rPr lang="ru-RU" dirty="0" err="1" smtClean="0">
                <a:solidFill>
                  <a:srgbClr val="154B27"/>
                </a:solidFill>
                <a:latin typeface="Comic Sans MS" pitchFamily="66" charset="0"/>
              </a:rPr>
              <a:t>обираємо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ціле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значення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для (17</a:t>
            </a:r>
            <a:r>
              <a:rPr lang="ru-RU" baseline="30000" dirty="0" smtClean="0">
                <a:solidFill>
                  <a:srgbClr val="1D6535"/>
                </a:solidFill>
                <a:latin typeface="Comic Sans MS" pitchFamily="66" charset="0"/>
              </a:rPr>
              <a:t>-1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)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Arial" charset="0"/>
              </a:rPr>
              <a:t>&lt;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Arial" charset="0"/>
              </a:rPr>
              <a:t>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</a:rPr>
              <a:t> .</a:t>
            </a:r>
            <a:endParaRPr lang="en-US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grpSp>
        <p:nvGrpSpPr>
          <p:cNvPr id="25607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5608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5609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3B27F129-A6BB-4938-84BC-95A7107F48D9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6627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159000" y="6245225"/>
            <a:ext cx="5257800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6628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1140EC-0060-4008-8432-BCA2FB8CFCEE}" type="slidenum">
              <a:rPr lang="ru-RU" smtClean="0"/>
              <a:pPr/>
              <a:t>24</a:t>
            </a:fld>
            <a:endParaRPr lang="ru-RU" smtClean="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2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36725"/>
            <a:ext cx="8229600" cy="4389438"/>
          </a:xfrm>
        </p:spPr>
        <p:txBody>
          <a:bodyPr/>
          <a:lstStyle/>
          <a:p>
            <a:pPr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Виконавши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процедуру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обернення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елемента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17, </a:t>
            </a:r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знаходимо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, при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j = 8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			 (17</a:t>
            </a:r>
            <a:r>
              <a:rPr lang="ru-RU" sz="3600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ru-RU" sz="3600" dirty="0" smtClean="0">
                <a:solidFill>
                  <a:srgbClr val="154B27"/>
                </a:solidFill>
                <a:latin typeface="Calibri" pitchFamily="34" charset="0"/>
              </a:rPr>
              <a:t>≡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 9 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mod 19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/>
            <a:r>
              <a:rPr lang="ru-RU" sz="3600" dirty="0" err="1" smtClean="0">
                <a:solidFill>
                  <a:srgbClr val="154B27"/>
                </a:solidFill>
                <a:latin typeface="Comic Sans MS" pitchFamily="66" charset="0"/>
              </a:rPr>
              <a:t>Тоді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		8 / 17 = 8 * (17</a:t>
            </a:r>
            <a:r>
              <a:rPr lang="ru-RU" sz="3600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) = 8 *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9 = </a:t>
            </a:r>
          </a:p>
          <a:p>
            <a:pPr eaLnBrk="1" hangingPunct="1">
              <a:buFontTx/>
              <a:buNone/>
            </a:pP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			= 72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15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mod 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19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endParaRPr lang="ru-RU" dirty="0" smtClean="0"/>
          </a:p>
        </p:txBody>
      </p:sp>
      <p:grpSp>
        <p:nvGrpSpPr>
          <p:cNvPr id="26631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6632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6633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CC52220-380D-4A96-B483-A2215C5FC6A7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7651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39975" y="6245225"/>
            <a:ext cx="493236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7652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266F448-9F16-47E7-9748-317B185935AD}" type="slidenum">
              <a:rPr lang="ru-RU" smtClean="0"/>
              <a:pPr/>
              <a:t>25</a:t>
            </a:fld>
            <a:endParaRPr lang="ru-RU" smtClean="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70086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2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pPr eaLnBrk="1" hangingPunct="1"/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Операція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піднесення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елемента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(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a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) у </a:t>
            </a:r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степінь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j </a:t>
            </a:r>
          </a:p>
          <a:p>
            <a:pPr eaLnBrk="1" hangingPunct="1">
              <a:buFontTx/>
              <a:buNone/>
            </a:pP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				a</a:t>
            </a:r>
            <a:r>
              <a:rPr lang="uk-UA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3600" b="1" baseline="30000" dirty="0" smtClean="0">
                <a:solidFill>
                  <a:srgbClr val="1D6535"/>
                </a:solidFill>
                <a:latin typeface="Comic Sans MS" pitchFamily="66" charset="0"/>
              </a:rPr>
              <a:t>j</a:t>
            </a:r>
            <a:r>
              <a:rPr lang="en-US" sz="3600" baseline="300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uk-UA" sz="3600" baseline="300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3600" b="1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h  mod p</a:t>
            </a:r>
            <a:r>
              <a:rPr lang="uk-UA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en-US" sz="3600" dirty="0" smtClean="0">
              <a:solidFill>
                <a:srgbClr val="1D6535"/>
              </a:solidFill>
              <a:latin typeface="Comic Sans MS" pitchFamily="66" charset="0"/>
              <a:cs typeface="Times New Roman" pitchFamily="18" charset="0"/>
            </a:endParaRPr>
          </a:p>
          <a:p>
            <a:pPr eaLnBrk="1" hangingPunct="1"/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Це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є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j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-</a:t>
            </a:r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кратне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множення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a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 самого на себе за (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</a:t>
            </a:r>
            <a:r>
              <a:rPr lang="en-US" sz="3600" i="1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uk-UA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).</a:t>
            </a:r>
            <a:endParaRPr lang="en-US" sz="3600" dirty="0" smtClean="0">
              <a:solidFill>
                <a:srgbClr val="1D6535"/>
              </a:solidFill>
              <a:latin typeface="Comic Sans MS" pitchFamily="66" charset="0"/>
              <a:cs typeface="Times New Roman" pitchFamily="18" charset="0"/>
            </a:endParaRPr>
          </a:p>
          <a:p>
            <a:pPr eaLnBrk="1" hangingPunct="1"/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Наприклад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, </a:t>
            </a:r>
          </a:p>
          <a:p>
            <a:pPr eaLnBrk="1" hangingPunct="1">
              <a:buFontTx/>
              <a:buNone/>
            </a:pP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				6 </a:t>
            </a:r>
            <a:r>
              <a:rPr lang="ru-RU" b="1" baseline="30000" dirty="0" smtClean="0">
                <a:solidFill>
                  <a:srgbClr val="1D6535"/>
                </a:solidFill>
                <a:latin typeface="Comic Sans MS" pitchFamily="66" charset="0"/>
              </a:rPr>
              <a:t>89</a:t>
            </a:r>
            <a:r>
              <a:rPr lang="ru-RU" dirty="0" smtClean="0">
                <a:solidFill>
                  <a:srgbClr val="1D6535"/>
                </a:solidFill>
              </a:rPr>
              <a:t> </a:t>
            </a:r>
            <a:r>
              <a:rPr lang="en-US" dirty="0" smtClean="0">
                <a:solidFill>
                  <a:srgbClr val="1D6535"/>
                </a:solidFill>
              </a:rPr>
              <a:t>≡</a:t>
            </a:r>
            <a:r>
              <a:rPr lang="ru-RU" dirty="0" smtClean="0">
                <a:solidFill>
                  <a:srgbClr val="1D6535"/>
                </a:solidFill>
              </a:rPr>
              <a:t> 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16 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mod 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19.</a:t>
            </a:r>
            <a:endParaRPr lang="ru-RU" sz="3600" dirty="0" smtClean="0">
              <a:solidFill>
                <a:srgbClr val="1D6535"/>
              </a:solidFill>
              <a:latin typeface="Comic Sans MS" pitchFamily="66" charset="0"/>
            </a:endParaRPr>
          </a:p>
        </p:txBody>
      </p:sp>
      <p:grpSp>
        <p:nvGrpSpPr>
          <p:cNvPr id="27655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7656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7657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622694B4-E805-450C-928C-D9321E162096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867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03463" y="6245225"/>
            <a:ext cx="5076825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8676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9F9E7EB-3ABA-4344-9D9A-176CF2A31C15}" type="slidenum">
              <a:rPr lang="ru-RU" smtClean="0"/>
              <a:pPr/>
              <a:t>26</a:t>
            </a:fld>
            <a:endParaRPr lang="ru-RU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519113" y="274638"/>
            <a:ext cx="8229600" cy="706090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2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524" y="1844675"/>
            <a:ext cx="8496944" cy="4281488"/>
          </a:xfrm>
        </p:spPr>
        <p:txBody>
          <a:bodyPr/>
          <a:lstStyle/>
          <a:p>
            <a:pPr eaLnBrk="1" hangingPunct="1"/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У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підвалинах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ряду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важливих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властивостей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скінченного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поля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</a:rPr>
              <a:t>GF(p)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як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алфавіта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,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що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віддзеркалює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обмежений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набір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дискретних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символів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лежить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</a:p>
          <a:p>
            <a:pPr eaLnBrk="1" hangingPunct="1">
              <a:buFontTx/>
              <a:buNone/>
            </a:pP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			</a:t>
            </a:r>
            <a:r>
              <a:rPr lang="ru-RU" u="sng" dirty="0" smtClean="0">
                <a:solidFill>
                  <a:srgbClr val="3822DC"/>
                </a:solidFill>
                <a:latin typeface="Comic Sans MS" pitchFamily="66" charset="0"/>
              </a:rPr>
              <a:t>мала теорема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smtClean="0">
                <a:solidFill>
                  <a:srgbClr val="3822DC"/>
                </a:solidFill>
                <a:latin typeface="Comic Sans MS" pitchFamily="66" charset="0"/>
              </a:rPr>
              <a:t>Ферма</a:t>
            </a:r>
          </a:p>
          <a:p>
            <a:pPr eaLnBrk="1" hangingPunct="1">
              <a:buFontTx/>
              <a:buNone/>
            </a:pP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	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</a:rPr>
              <a:t>		</a:t>
            </a:r>
            <a:r>
              <a:rPr lang="en-US" sz="3600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3600" b="1" baseline="30000" dirty="0" smtClean="0">
                <a:solidFill>
                  <a:srgbClr val="229A28"/>
                </a:solidFill>
                <a:latin typeface="Comic Sans MS" pitchFamily="66" charset="0"/>
              </a:rPr>
              <a:t>p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en-US" sz="3600" b="1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sz="3600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w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en-US" sz="3600" dirty="0" smtClean="0">
                <a:solidFill>
                  <a:srgbClr val="229A28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sz="36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				</a:t>
            </a:r>
            <a:r>
              <a:rPr lang="en-US" dirty="0" smtClean="0">
                <a:solidFill>
                  <a:srgbClr val="229A28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–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просте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,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  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&lt;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w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&lt;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–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ціле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en-US" dirty="0" smtClean="0">
              <a:solidFill>
                <a:srgbClr val="1D6535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28679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8680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8681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33A33DC7-5335-42EE-B477-B3B7F87C91E3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969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76488" y="6245225"/>
            <a:ext cx="4967287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970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C03E5D-5CF5-46CF-B6D8-1FF5EA8A2F17}" type="slidenum">
              <a:rPr lang="ru-RU" smtClean="0"/>
              <a:pPr/>
              <a:t>27</a:t>
            </a:fld>
            <a:endParaRPr lang="ru-RU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42094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              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Арифметичні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операції</a:t>
            </a:r>
            <a:endParaRPr lang="ru-RU" sz="3200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425950"/>
          </a:xfrm>
        </p:spPr>
        <p:txBody>
          <a:bodyPr/>
          <a:lstStyle/>
          <a:p>
            <a:pPr eaLnBrk="1" hangingPunct="1"/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Важливу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роль у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забезпеченні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Інформаційної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стійкості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систем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засобами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криптографії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грає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наступна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модифікація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u="sng" dirty="0" err="1" smtClean="0">
                <a:solidFill>
                  <a:srgbClr val="3822DC"/>
                </a:solidFill>
                <a:latin typeface="Comic Sans MS" pitchFamily="66" charset="0"/>
              </a:rPr>
              <a:t>малої</a:t>
            </a:r>
            <a:r>
              <a:rPr lang="ru-RU" u="sng" dirty="0" smtClean="0">
                <a:solidFill>
                  <a:srgbClr val="3822DC"/>
                </a:solidFill>
                <a:latin typeface="Comic Sans MS" pitchFamily="66" charset="0"/>
              </a:rPr>
              <a:t> </a:t>
            </a:r>
            <a:r>
              <a:rPr lang="ru-RU" u="sng" dirty="0" err="1" smtClean="0">
                <a:solidFill>
                  <a:srgbClr val="3822DC"/>
                </a:solidFill>
                <a:latin typeface="Comic Sans MS" pitchFamily="66" charset="0"/>
              </a:rPr>
              <a:t>теореми</a:t>
            </a:r>
            <a:r>
              <a:rPr lang="ru-RU" u="sng" dirty="0" smtClean="0">
                <a:solidFill>
                  <a:srgbClr val="3822DC"/>
                </a:solidFill>
                <a:latin typeface="Comic Sans MS" pitchFamily="66" charset="0"/>
              </a:rPr>
              <a:t> Ферма</a:t>
            </a:r>
            <a:r>
              <a:rPr lang="ru-RU" u="sng" dirty="0" smtClean="0">
                <a:solidFill>
                  <a:srgbClr val="1D6535"/>
                </a:solidFill>
                <a:latin typeface="Comic Sans MS" pitchFamily="66" charset="0"/>
              </a:rPr>
              <a:t>:</a:t>
            </a: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		</a:t>
            </a:r>
            <a:r>
              <a:rPr lang="en-US" sz="3600" b="1" dirty="0" smtClean="0">
                <a:solidFill>
                  <a:srgbClr val="C00000"/>
                </a:solidFill>
                <a:latin typeface="Comic Sans MS" pitchFamily="66" charset="0"/>
              </a:rPr>
              <a:t>w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4000" b="1" baseline="30000" dirty="0" smtClean="0">
                <a:solidFill>
                  <a:srgbClr val="1C7E21"/>
                </a:solidFill>
                <a:latin typeface="Comic Sans MS" pitchFamily="66" charset="0"/>
              </a:rPr>
              <a:t>p</a:t>
            </a:r>
            <a:r>
              <a:rPr lang="ru-RU" sz="3600" b="1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en-US" sz="3600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			</a:t>
            </a:r>
            <a:r>
              <a:rPr lang="en-US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–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просте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,   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&lt;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Comic Sans MS" pitchFamily="66" charset="0"/>
                <a:cs typeface="Times New Roman" pitchFamily="18" charset="0"/>
              </a:rPr>
              <a:t>w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&lt;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p –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ціле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ru-RU" dirty="0" smtClean="0">
              <a:latin typeface="Comic Sans MS" pitchFamily="66" charset="0"/>
            </a:endParaRPr>
          </a:p>
          <a:p>
            <a:pPr eaLnBrk="1" hangingPunct="1"/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Наприклад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,</a:t>
            </a:r>
            <a:r>
              <a:rPr lang="ru-RU" dirty="0" smtClean="0">
                <a:latin typeface="Comic Sans MS" pitchFamily="66" charset="0"/>
              </a:rPr>
              <a:t>   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45 </a:t>
            </a:r>
            <a:r>
              <a:rPr lang="ru-RU" sz="4000" baseline="30000" dirty="0" smtClean="0">
                <a:solidFill>
                  <a:srgbClr val="154B27"/>
                </a:solidFill>
                <a:latin typeface="Comic Sans MS" pitchFamily="66" charset="0"/>
              </a:rPr>
              <a:t>82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83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29703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970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70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33A33DC7-5335-42EE-B477-B3B7F87C91E3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969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76488" y="6245225"/>
            <a:ext cx="4967287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970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C03E5D-5CF5-46CF-B6D8-1FF5EA8A2F17}" type="slidenum">
              <a:rPr lang="ru-RU" smtClean="0"/>
              <a:pPr/>
              <a:t>28</a:t>
            </a:fld>
            <a:endParaRPr lang="ru-RU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42094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Мультиплікативне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u="sng" dirty="0" smtClean="0">
                <a:solidFill>
                  <a:srgbClr val="0070C0"/>
                </a:solidFill>
                <a:latin typeface="Comic Sans MS" pitchFamily="66" charset="0"/>
              </a:rPr>
              <a:t>о</a:t>
            </a:r>
            <a:r>
              <a:rPr lang="ru-RU" sz="3000" u="sng" dirty="0" err="1" smtClean="0">
                <a:solidFill>
                  <a:srgbClr val="0070C0"/>
                </a:solidFill>
                <a:latin typeface="Comic Sans MS" pitchFamily="66" charset="0"/>
              </a:rPr>
              <a:t>бернення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елемента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b="1" dirty="0" smtClean="0">
                <a:solidFill>
                  <a:srgbClr val="154B27"/>
                </a:solidFill>
                <a:latin typeface="Comic Sans MS" pitchFamily="66" charset="0"/>
              </a:rPr>
              <a:t>w</a:t>
            </a:r>
            <a:endParaRPr lang="ru-RU" sz="3000" b="1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8780"/>
            <a:ext cx="8229600" cy="4677383"/>
          </a:xfrm>
        </p:spPr>
        <p:txBody>
          <a:bodyPr/>
          <a:lstStyle/>
          <a:p>
            <a:pPr eaLnBrk="1" hangingPunct="1"/>
            <a:r>
              <a:rPr lang="ru-RU" u="sng" dirty="0" smtClean="0">
                <a:solidFill>
                  <a:srgbClr val="3822DC"/>
                </a:solidFill>
                <a:latin typeface="Comic Sans MS" pitchFamily="66" charset="0"/>
              </a:rPr>
              <a:t>Мала теорема Ферма</a:t>
            </a:r>
            <a:r>
              <a:rPr lang="ru-RU" u="sng" dirty="0" smtClean="0">
                <a:solidFill>
                  <a:srgbClr val="1D6535"/>
                </a:solidFill>
                <a:latin typeface="Comic Sans MS" pitchFamily="66" charset="0"/>
              </a:rPr>
              <a:t>:</a:t>
            </a:r>
          </a:p>
          <a:p>
            <a:pPr eaLnBrk="1" hangingPunct="1">
              <a:buFontTx/>
              <a:buNone/>
            </a:pP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		</a:t>
            </a:r>
            <a:r>
              <a:rPr lang="en-US" sz="3600" b="1" dirty="0" smtClean="0">
                <a:latin typeface="Comic Sans MS" pitchFamily="66" charset="0"/>
              </a:rPr>
              <a:t>w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4000" b="1" baseline="30000" dirty="0" smtClean="0">
                <a:solidFill>
                  <a:srgbClr val="1C7E21"/>
                </a:solidFill>
                <a:latin typeface="Comic Sans MS" pitchFamily="66" charset="0"/>
              </a:rPr>
              <a:t>p</a:t>
            </a:r>
            <a:r>
              <a:rPr lang="ru-RU" sz="3600" b="1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en-US" sz="3600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    </a:t>
            </a:r>
            <a:r>
              <a:rPr lang="uk-UA" sz="28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(не</a:t>
            </a:r>
            <a:r>
              <a:rPr lang="en-US" sz="28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uk-UA" sz="2800" dirty="0" err="1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спростовно</a:t>
            </a:r>
            <a:r>
              <a:rPr lang="uk-UA" sz="28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!)</a:t>
            </a:r>
            <a:endParaRPr lang="en-US" sz="2800" dirty="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			</a:t>
            </a:r>
            <a:r>
              <a:rPr lang="en-US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–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просте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,   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&lt;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Comic Sans MS" pitchFamily="66" charset="0"/>
                <a:cs typeface="Times New Roman" pitchFamily="18" charset="0"/>
              </a:rPr>
              <a:t>w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&lt;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p –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ціле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ru-RU" dirty="0" smtClean="0">
              <a:latin typeface="Comic Sans MS" pitchFamily="66" charset="0"/>
            </a:endParaRPr>
          </a:p>
          <a:p>
            <a:pPr eaLnBrk="1" hangingPunct="1"/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Поділимо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зрівняння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на 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ru-RU" dirty="0" smtClean="0">
                <a:latin typeface="Comic Sans MS" pitchFamily="66" charset="0"/>
              </a:rPr>
              <a:t>  </a:t>
            </a:r>
            <a:endParaRPr lang="en-US" dirty="0" smtClean="0">
              <a:latin typeface="Comic Sans MS" pitchFamily="66" charset="0"/>
            </a:endParaRPr>
          </a:p>
          <a:p>
            <a:pPr eaLnBrk="1" hangingPunct="1"/>
            <a:r>
              <a:rPr lang="ru-RU" dirty="0" smtClean="0">
                <a:latin typeface="Comic Sans MS" pitchFamily="66" charset="0"/>
              </a:rPr>
              <a:t> 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baseline="30000" dirty="0" smtClean="0">
                <a:solidFill>
                  <a:srgbClr val="1C7E21"/>
                </a:solidFill>
                <a:latin typeface="Comic Sans MS" pitchFamily="66" charset="0"/>
              </a:rPr>
              <a:t>p</a:t>
            </a:r>
            <a:r>
              <a:rPr lang="ru-RU" b="1" baseline="30000" dirty="0" smtClean="0">
                <a:solidFill>
                  <a:srgbClr val="154B27"/>
                </a:solidFill>
                <a:latin typeface="Comic Sans MS" pitchFamily="66" charset="0"/>
              </a:rPr>
              <a:t>-</a:t>
            </a:r>
            <a:r>
              <a:rPr lang="en-US" b="1" baseline="30000" dirty="0" smtClean="0">
                <a:solidFill>
                  <a:srgbClr val="154B27"/>
                </a:solidFill>
                <a:latin typeface="Comic Sans MS" pitchFamily="66" charset="0"/>
              </a:rPr>
              <a:t>2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/</a:t>
            </a:r>
            <a:r>
              <a:rPr lang="en-US" b="1" dirty="0" smtClean="0">
                <a:latin typeface="Comic Sans MS" pitchFamily="66" charset="0"/>
              </a:rPr>
              <a:t> w</a:t>
            </a:r>
            <a:r>
              <a:rPr lang="uk-UA" dirty="0" smtClean="0">
                <a:latin typeface="Comic Sans MS" pitchFamily="66" charset="0"/>
              </a:rPr>
              <a:t>)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 </a:t>
            </a:r>
            <a:r>
              <a:rPr lang="uk-UA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ru-RU" b="1" baseline="30000" dirty="0" smtClean="0">
                <a:latin typeface="Comic Sans MS" pitchFamily="66" charset="0"/>
              </a:rPr>
              <a:t>-1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) 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(mod </a:t>
            </a:r>
            <a:r>
              <a:rPr lang="en-US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en-US" dirty="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  <a:p>
            <a:pPr eaLnBrk="1" hangingPunct="1"/>
            <a:r>
              <a:rPr lang="uk-UA" dirty="0" smtClean="0">
                <a:latin typeface="Comic Sans MS" pitchFamily="66" charset="0"/>
              </a:rPr>
              <a:t>Звідки отримаємо для 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uk-UA" dirty="0" smtClean="0">
                <a:latin typeface="Comic Sans MS" pitchFamily="66" charset="0"/>
              </a:rPr>
              <a:t>:</a:t>
            </a:r>
          </a:p>
          <a:p>
            <a:pPr eaLnBrk="1" hangingPunct="1"/>
            <a:r>
              <a:rPr lang="uk-UA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ru-RU" b="1" baseline="30000" dirty="0" smtClean="0">
                <a:latin typeface="Comic Sans MS" pitchFamily="66" charset="0"/>
              </a:rPr>
              <a:t>-1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/</a:t>
            </a:r>
            <a:r>
              <a:rPr lang="en-US" b="1" dirty="0" smtClean="0">
                <a:latin typeface="Comic Sans MS" pitchFamily="66" charset="0"/>
              </a:rPr>
              <a:t> w</a:t>
            </a:r>
            <a:r>
              <a:rPr lang="uk-UA" dirty="0" smtClean="0">
                <a:latin typeface="Comic Sans MS" pitchFamily="66" charset="0"/>
              </a:rPr>
              <a:t>)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 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baseline="30000" dirty="0" smtClean="0">
                <a:solidFill>
                  <a:srgbClr val="1C7E21"/>
                </a:solidFill>
                <a:latin typeface="Comic Sans MS" pitchFamily="66" charset="0"/>
              </a:rPr>
              <a:t>p</a:t>
            </a:r>
            <a:r>
              <a:rPr lang="ru-RU" b="1" baseline="30000" dirty="0" smtClean="0">
                <a:solidFill>
                  <a:srgbClr val="154B27"/>
                </a:solidFill>
                <a:latin typeface="Comic Sans MS" pitchFamily="66" charset="0"/>
              </a:rPr>
              <a:t>-</a:t>
            </a:r>
            <a:r>
              <a:rPr lang="en-US" b="1" baseline="30000" dirty="0" smtClean="0">
                <a:solidFill>
                  <a:srgbClr val="154B27"/>
                </a:solidFill>
                <a:latin typeface="Comic Sans MS" pitchFamily="66" charset="0"/>
              </a:rPr>
              <a:t>2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(mod </a:t>
            </a:r>
            <a:r>
              <a:rPr lang="en-US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en-US" dirty="0" smtClean="0">
              <a:latin typeface="Comic Sans MS" pitchFamily="66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970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70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33A33DC7-5335-42EE-B477-B3B7F87C91E3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969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76488" y="6245225"/>
            <a:ext cx="4967287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970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C03E5D-5CF5-46CF-B6D8-1FF5EA8A2F17}" type="slidenum">
              <a:rPr lang="ru-RU" smtClean="0"/>
              <a:pPr/>
              <a:t>29</a:t>
            </a:fld>
            <a:endParaRPr lang="ru-RU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42094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Мультиплікативне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u="sng" dirty="0" smtClean="0">
                <a:solidFill>
                  <a:srgbClr val="0070C0"/>
                </a:solidFill>
                <a:latin typeface="Comic Sans MS" pitchFamily="66" charset="0"/>
              </a:rPr>
              <a:t>о</a:t>
            </a:r>
            <a:r>
              <a:rPr lang="ru-RU" sz="3000" u="sng" dirty="0" err="1" smtClean="0">
                <a:solidFill>
                  <a:srgbClr val="0070C0"/>
                </a:solidFill>
                <a:latin typeface="Comic Sans MS" pitchFamily="66" charset="0"/>
              </a:rPr>
              <a:t>бернення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елемента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b="1" dirty="0" smtClean="0">
                <a:solidFill>
                  <a:srgbClr val="154B27"/>
                </a:solidFill>
                <a:latin typeface="Comic Sans MS" pitchFamily="66" charset="0"/>
              </a:rPr>
              <a:t>w</a:t>
            </a:r>
            <a:endParaRPr lang="ru-RU" sz="3000" b="1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8780"/>
            <a:ext cx="8229600" cy="4677383"/>
          </a:xfrm>
        </p:spPr>
        <p:txBody>
          <a:bodyPr/>
          <a:lstStyle/>
          <a:p>
            <a:pPr eaLnBrk="1" hangingPunct="1"/>
            <a:r>
              <a:rPr lang="ru-RU" u="sng" dirty="0" smtClean="0">
                <a:solidFill>
                  <a:srgbClr val="3822DC"/>
                </a:solidFill>
                <a:latin typeface="Comic Sans MS" pitchFamily="66" charset="0"/>
              </a:rPr>
              <a:t>м.т.Ф.: 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	</a:t>
            </a:r>
            <a:r>
              <a:rPr lang="en-US" sz="3600" b="1" dirty="0" smtClean="0">
                <a:latin typeface="Comic Sans MS" pitchFamily="66" charset="0"/>
              </a:rPr>
              <a:t>w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4000" b="1" baseline="30000" dirty="0" smtClean="0">
                <a:solidFill>
                  <a:srgbClr val="1C7E21"/>
                </a:solidFill>
                <a:latin typeface="Comic Sans MS" pitchFamily="66" charset="0"/>
              </a:rPr>
              <a:t>p</a:t>
            </a:r>
            <a:r>
              <a:rPr lang="ru-RU" sz="3600" b="1" baseline="30000" dirty="0" smtClean="0">
                <a:solidFill>
                  <a:srgbClr val="154B27"/>
                </a:solidFill>
                <a:latin typeface="Comic Sans MS" pitchFamily="66" charset="0"/>
              </a:rPr>
              <a:t>-1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en-US" sz="3600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endParaRPr lang="en-US" sz="2800" dirty="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			</a:t>
            </a:r>
            <a:r>
              <a:rPr lang="en-US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–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просте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,   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&lt;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Comic Sans MS" pitchFamily="66" charset="0"/>
                <a:cs typeface="Times New Roman" pitchFamily="18" charset="0"/>
              </a:rPr>
              <a:t>w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&lt;</a:t>
            </a:r>
            <a:r>
              <a:rPr lang="uk-UA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p –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ціле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ru-RU" dirty="0" smtClean="0">
              <a:latin typeface="Comic Sans MS" pitchFamily="66" charset="0"/>
            </a:endParaRPr>
          </a:p>
          <a:p>
            <a:pPr eaLnBrk="1" hangingPunct="1"/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Маємо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зрівняння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для </a:t>
            </a:r>
            <a:r>
              <a:rPr lang="uk-UA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ru-RU" b="1" baseline="30000" dirty="0" smtClean="0">
                <a:latin typeface="Comic Sans MS" pitchFamily="66" charset="0"/>
              </a:rPr>
              <a:t>-1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ru-RU" dirty="0" smtClean="0">
                <a:latin typeface="Comic Sans MS" pitchFamily="66" charset="0"/>
              </a:rPr>
              <a:t>: </a:t>
            </a:r>
            <a:endParaRPr lang="en-US" dirty="0" smtClean="0">
              <a:latin typeface="Comic Sans MS" pitchFamily="66" charset="0"/>
            </a:endParaRPr>
          </a:p>
          <a:p>
            <a:pPr eaLnBrk="1" hangingPunct="1"/>
            <a:r>
              <a:rPr lang="ru-RU" dirty="0" smtClean="0">
                <a:latin typeface="Comic Sans MS" pitchFamily="66" charset="0"/>
              </a:rPr>
              <a:t> </a:t>
            </a:r>
            <a:r>
              <a:rPr lang="uk-UA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ru-RU" b="1" baseline="30000" dirty="0" smtClean="0">
                <a:latin typeface="Comic Sans MS" pitchFamily="66" charset="0"/>
              </a:rPr>
              <a:t>-1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/</a:t>
            </a:r>
            <a:r>
              <a:rPr lang="en-US" b="1" dirty="0" smtClean="0">
                <a:latin typeface="Comic Sans MS" pitchFamily="66" charset="0"/>
              </a:rPr>
              <a:t> w</a:t>
            </a:r>
            <a:r>
              <a:rPr lang="uk-UA" dirty="0" smtClean="0">
                <a:latin typeface="Comic Sans MS" pitchFamily="66" charset="0"/>
              </a:rPr>
              <a:t>)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 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baseline="30000" dirty="0" smtClean="0">
                <a:solidFill>
                  <a:srgbClr val="1C7E21"/>
                </a:solidFill>
                <a:latin typeface="Comic Sans MS" pitchFamily="66" charset="0"/>
              </a:rPr>
              <a:t>p</a:t>
            </a:r>
            <a:r>
              <a:rPr lang="ru-RU" b="1" baseline="30000" dirty="0" smtClean="0">
                <a:solidFill>
                  <a:srgbClr val="154B27"/>
                </a:solidFill>
                <a:latin typeface="Comic Sans MS" pitchFamily="66" charset="0"/>
              </a:rPr>
              <a:t>-</a:t>
            </a:r>
            <a:r>
              <a:rPr lang="en-US" b="1" baseline="30000" dirty="0" smtClean="0">
                <a:solidFill>
                  <a:srgbClr val="154B27"/>
                </a:solidFill>
                <a:latin typeface="Comic Sans MS" pitchFamily="66" charset="0"/>
              </a:rPr>
              <a:t>2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(mod </a:t>
            </a:r>
            <a:r>
              <a:rPr lang="en-US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en-US" dirty="0" smtClean="0">
              <a:latin typeface="Comic Sans MS" pitchFamily="66" charset="0"/>
            </a:endParaRPr>
          </a:p>
          <a:p>
            <a:pPr eaLnBrk="1" hangingPunct="1"/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Наприклад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, </a:t>
            </a:r>
            <a:r>
              <a:rPr lang="en-US" sz="3600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uk-UA" sz="3600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=83, </a:t>
            </a:r>
            <a:r>
              <a:rPr lang="en-US" sz="3600" b="1" dirty="0" smtClean="0">
                <a:latin typeface="Comic Sans MS" pitchFamily="66" charset="0"/>
                <a:cs typeface="Times New Roman" pitchFamily="18" charset="0"/>
              </a:rPr>
              <a:t>w</a:t>
            </a:r>
            <a:r>
              <a:rPr lang="uk-UA" sz="3600" dirty="0" smtClean="0">
                <a:latin typeface="Comic Sans MS" pitchFamily="66" charset="0"/>
                <a:cs typeface="Times New Roman" pitchFamily="18" charset="0"/>
              </a:rPr>
              <a:t>=45</a:t>
            </a:r>
            <a:endParaRPr lang="ru-RU" sz="3600" dirty="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r>
              <a:rPr lang="uk-UA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en-US" sz="3600" b="1" dirty="0" smtClean="0">
                <a:latin typeface="Comic Sans MS" pitchFamily="66" charset="0"/>
              </a:rPr>
              <a:t>w</a:t>
            </a:r>
            <a:r>
              <a:rPr lang="ru-RU" sz="3600" b="1" baseline="30000" dirty="0" smtClean="0">
                <a:latin typeface="Comic Sans MS" pitchFamily="66" charset="0"/>
              </a:rPr>
              <a:t>-1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</a:rPr>
              <a:t>)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≡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45 </a:t>
            </a:r>
            <a:r>
              <a:rPr lang="ru-RU" sz="4000" baseline="30000" dirty="0" smtClean="0">
                <a:solidFill>
                  <a:srgbClr val="154B27"/>
                </a:solidFill>
                <a:latin typeface="Comic Sans MS" pitchFamily="66" charset="0"/>
              </a:rPr>
              <a:t>81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24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83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</a:p>
          <a:p>
            <a:pPr eaLnBrk="1" hangingPunct="1"/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Перевірка:  45 * 24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83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970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70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33A33DC7-5335-42EE-B477-B3B7F87C91E3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29699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76488" y="6245225"/>
            <a:ext cx="4967287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29700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C03E5D-5CF5-46CF-B6D8-1FF5EA8A2F17}" type="slidenum">
              <a:rPr lang="ru-RU" smtClean="0"/>
              <a:pPr/>
              <a:t>30</a:t>
            </a:fld>
            <a:endParaRPr lang="ru-RU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42094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Мультиплікативне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uk-UA" sz="3000" u="sng" dirty="0" smtClean="0">
                <a:solidFill>
                  <a:srgbClr val="0070C0"/>
                </a:solidFill>
                <a:latin typeface="Comic Sans MS" pitchFamily="66" charset="0"/>
              </a:rPr>
              <a:t>о</a:t>
            </a:r>
            <a:r>
              <a:rPr lang="ru-RU" sz="3000" u="sng" dirty="0" err="1" smtClean="0">
                <a:solidFill>
                  <a:srgbClr val="0070C0"/>
                </a:solidFill>
                <a:latin typeface="Comic Sans MS" pitchFamily="66" charset="0"/>
              </a:rPr>
              <a:t>бернення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000" dirty="0" err="1" smtClean="0">
                <a:solidFill>
                  <a:srgbClr val="154B27"/>
                </a:solidFill>
                <a:latin typeface="Comic Sans MS" pitchFamily="66" charset="0"/>
              </a:rPr>
              <a:t>елемента</a:t>
            </a:r>
            <a:r>
              <a:rPr lang="ru-RU" sz="30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000" b="1" dirty="0" smtClean="0">
                <a:solidFill>
                  <a:srgbClr val="154B27"/>
                </a:solidFill>
                <a:latin typeface="Comic Sans MS" pitchFamily="66" charset="0"/>
              </a:rPr>
              <a:t>w</a:t>
            </a:r>
            <a:endParaRPr lang="ru-RU" sz="3000" b="1" dirty="0" smtClean="0">
              <a:solidFill>
                <a:srgbClr val="154B27"/>
              </a:solidFill>
              <a:latin typeface="Comic Sans MS" pitchFamily="66" charset="0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8780"/>
            <a:ext cx="8229600" cy="4677383"/>
          </a:xfrm>
        </p:spPr>
        <p:txBody>
          <a:bodyPr/>
          <a:lstStyle/>
          <a:p>
            <a:pPr eaLnBrk="1" hangingPunct="1"/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Маємо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dirty="0" err="1" smtClean="0">
                <a:solidFill>
                  <a:srgbClr val="1D6535"/>
                </a:solidFill>
                <a:latin typeface="Comic Sans MS" pitchFamily="66" charset="0"/>
              </a:rPr>
              <a:t>зрівняння</a:t>
            </a:r>
            <a:r>
              <a:rPr lang="ru-RU" dirty="0" smtClean="0">
                <a:solidFill>
                  <a:srgbClr val="1D6535"/>
                </a:solidFill>
                <a:latin typeface="Comic Sans MS" pitchFamily="66" charset="0"/>
              </a:rPr>
              <a:t> для </a:t>
            </a:r>
            <a:r>
              <a:rPr lang="uk-UA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ru-RU" b="1" baseline="30000" dirty="0" smtClean="0">
                <a:latin typeface="Comic Sans MS" pitchFamily="66" charset="0"/>
              </a:rPr>
              <a:t>-1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ru-RU" dirty="0" smtClean="0">
                <a:latin typeface="Comic Sans MS" pitchFamily="66" charset="0"/>
              </a:rPr>
              <a:t>: </a:t>
            </a:r>
            <a:endParaRPr lang="en-US" dirty="0" smtClean="0">
              <a:latin typeface="Comic Sans MS" pitchFamily="66" charset="0"/>
            </a:endParaRPr>
          </a:p>
          <a:p>
            <a:pPr eaLnBrk="1" hangingPunct="1"/>
            <a:r>
              <a:rPr lang="ru-RU" dirty="0" smtClean="0">
                <a:latin typeface="Comic Sans MS" pitchFamily="66" charset="0"/>
              </a:rPr>
              <a:t> </a:t>
            </a:r>
            <a:r>
              <a:rPr lang="uk-UA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ru-RU" b="1" baseline="30000" dirty="0" smtClean="0">
                <a:latin typeface="Comic Sans MS" pitchFamily="66" charset="0"/>
              </a:rPr>
              <a:t>-1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</a:rPr>
              <a:t>)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</a:t>
            </a:r>
            <a:r>
              <a:rPr lang="ru-RU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/</a:t>
            </a:r>
            <a:r>
              <a:rPr lang="en-US" b="1" dirty="0" smtClean="0">
                <a:latin typeface="Comic Sans MS" pitchFamily="66" charset="0"/>
              </a:rPr>
              <a:t> w</a:t>
            </a:r>
            <a:r>
              <a:rPr lang="uk-UA" dirty="0" smtClean="0">
                <a:latin typeface="Comic Sans MS" pitchFamily="66" charset="0"/>
              </a:rPr>
              <a:t>)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 </a:t>
            </a:r>
            <a:r>
              <a:rPr lang="en-US" b="1" dirty="0" smtClean="0">
                <a:latin typeface="Comic Sans MS" pitchFamily="66" charset="0"/>
              </a:rPr>
              <a:t>w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baseline="30000" dirty="0" smtClean="0">
                <a:solidFill>
                  <a:srgbClr val="1C7E21"/>
                </a:solidFill>
                <a:latin typeface="Comic Sans MS" pitchFamily="66" charset="0"/>
              </a:rPr>
              <a:t>p</a:t>
            </a:r>
            <a:r>
              <a:rPr lang="ru-RU" b="1" baseline="30000" dirty="0" smtClean="0">
                <a:solidFill>
                  <a:srgbClr val="154B27"/>
                </a:solidFill>
                <a:latin typeface="Comic Sans MS" pitchFamily="66" charset="0"/>
              </a:rPr>
              <a:t>-</a:t>
            </a:r>
            <a:r>
              <a:rPr lang="en-US" b="1" baseline="30000" dirty="0" smtClean="0">
                <a:solidFill>
                  <a:srgbClr val="154B27"/>
                </a:solidFill>
                <a:latin typeface="Comic Sans MS" pitchFamily="66" charset="0"/>
              </a:rPr>
              <a:t>2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(mod </a:t>
            </a:r>
            <a:r>
              <a:rPr lang="en-US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</a:p>
          <a:p>
            <a:pPr eaLnBrk="1" hangingPunct="1"/>
            <a:endParaRPr lang="en-US" dirty="0" smtClean="0">
              <a:latin typeface="Comic Sans MS" pitchFamily="66" charset="0"/>
            </a:endParaRPr>
          </a:p>
          <a:p>
            <a:pPr eaLnBrk="1" hangingPunct="1"/>
            <a:r>
              <a:rPr lang="ru-RU" sz="3600" dirty="0" err="1" smtClean="0">
                <a:solidFill>
                  <a:srgbClr val="1D6535"/>
                </a:solidFill>
                <a:latin typeface="Comic Sans MS" pitchFamily="66" charset="0"/>
              </a:rPr>
              <a:t>Наприклад</a:t>
            </a:r>
            <a:r>
              <a:rPr lang="ru-RU" sz="3600" dirty="0" smtClean="0">
                <a:solidFill>
                  <a:srgbClr val="1D6535"/>
                </a:solidFill>
                <a:latin typeface="Comic Sans MS" pitchFamily="66" charset="0"/>
              </a:rPr>
              <a:t>, </a:t>
            </a:r>
            <a:r>
              <a:rPr lang="en-US" sz="3600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p</a:t>
            </a:r>
            <a:r>
              <a:rPr lang="uk-UA" sz="3600" dirty="0" smtClean="0">
                <a:solidFill>
                  <a:srgbClr val="1C7E21"/>
                </a:solidFill>
                <a:latin typeface="Comic Sans MS" pitchFamily="66" charset="0"/>
                <a:cs typeface="Times New Roman" pitchFamily="18" charset="0"/>
              </a:rPr>
              <a:t>=83, </a:t>
            </a:r>
            <a:r>
              <a:rPr lang="en-US" sz="3600" b="1" dirty="0" smtClean="0">
                <a:latin typeface="Comic Sans MS" pitchFamily="66" charset="0"/>
                <a:cs typeface="Times New Roman" pitchFamily="18" charset="0"/>
              </a:rPr>
              <a:t>w</a:t>
            </a:r>
            <a:r>
              <a:rPr lang="uk-UA" sz="3600" dirty="0" smtClean="0">
                <a:latin typeface="Comic Sans MS" pitchFamily="66" charset="0"/>
                <a:cs typeface="Times New Roman" pitchFamily="18" charset="0"/>
              </a:rPr>
              <a:t>=63</a:t>
            </a:r>
            <a:endParaRPr lang="ru-RU" sz="3600" dirty="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r>
              <a:rPr lang="uk-UA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(</a:t>
            </a:r>
            <a:r>
              <a:rPr lang="uk-UA" sz="3600" b="1" dirty="0" smtClean="0">
                <a:latin typeface="Comic Sans MS" pitchFamily="66" charset="0"/>
              </a:rPr>
              <a:t>63</a:t>
            </a:r>
            <a:r>
              <a:rPr lang="ru-RU" sz="3600" b="1" baseline="30000" dirty="0" smtClean="0">
                <a:latin typeface="Comic Sans MS" pitchFamily="66" charset="0"/>
              </a:rPr>
              <a:t>-1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</a:rPr>
              <a:t>)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≡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</a:rPr>
              <a:t>63 </a:t>
            </a:r>
            <a:r>
              <a:rPr lang="ru-RU" sz="4000" baseline="30000" dirty="0" smtClean="0">
                <a:solidFill>
                  <a:srgbClr val="154B27"/>
                </a:solidFill>
                <a:latin typeface="Comic Sans MS" pitchFamily="66" charset="0"/>
              </a:rPr>
              <a:t>81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29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83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uk-UA" sz="360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  <a:p>
            <a:pPr eaLnBrk="1" hangingPunct="1"/>
            <a:endParaRPr lang="uk-UA" sz="3600" dirty="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  <a:p>
            <a:pPr eaLnBrk="1" hangingPunct="1"/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Перевірка:  63 * 29 </a:t>
            </a:r>
            <a:r>
              <a:rPr lang="en-US" sz="3600" b="1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≡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 (mod </a:t>
            </a:r>
            <a:r>
              <a:rPr lang="ru-RU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83</a:t>
            </a:r>
            <a:r>
              <a:rPr lang="en-US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)</a:t>
            </a:r>
            <a:r>
              <a:rPr lang="uk-UA" sz="3600" dirty="0" smtClean="0">
                <a:solidFill>
                  <a:srgbClr val="154B27"/>
                </a:solidFill>
                <a:latin typeface="Comic Sans MS" pitchFamily="66" charset="0"/>
                <a:cs typeface="Times New Roman" pitchFamily="18" charset="0"/>
              </a:rPr>
              <a:t>.</a:t>
            </a:r>
            <a:endParaRPr lang="ru-RU" sz="3600" dirty="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29704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29705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CC87AAB8-763B-42FB-98A5-0CA4DEF6E5C5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30723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76488" y="6245225"/>
            <a:ext cx="4967287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30724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E7D2E4-1A75-482B-9886-1276D88227CA}" type="slidenum">
              <a:rPr lang="ru-RU" smtClean="0"/>
              <a:pPr/>
              <a:t>31</a:t>
            </a:fld>
            <a:endParaRPr lang="ru-RU" smtClean="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14102"/>
          </a:xfrm>
        </p:spPr>
        <p:txBody>
          <a:bodyPr/>
          <a:lstStyle/>
          <a:p>
            <a:pPr algn="l" eaLnBrk="1" hangingPunct="1"/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Скінченне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поле Галуа  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  <a: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br>
              <a:rPr lang="en-US" sz="3200" dirty="0" smtClean="0">
                <a:solidFill>
                  <a:srgbClr val="154B27"/>
                </a:solidFill>
                <a:latin typeface="Comic Sans MS" pitchFamily="66" charset="0"/>
              </a:rPr>
            </a:b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               	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Рекомендовані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 </a:t>
            </a:r>
            <a:r>
              <a:rPr lang="ru-RU" sz="3200" dirty="0" err="1" smtClean="0">
                <a:solidFill>
                  <a:srgbClr val="154B27"/>
                </a:solidFill>
                <a:latin typeface="Comic Sans MS" pitchFamily="66" charset="0"/>
              </a:rPr>
              <a:t>джерела</a:t>
            </a:r>
            <a:r>
              <a:rPr lang="ru-RU" sz="3200" dirty="0" smtClean="0">
                <a:solidFill>
                  <a:srgbClr val="154B27"/>
                </a:solidFill>
                <a:latin typeface="Comic Sans MS" pitchFamily="66" charset="0"/>
              </a:rPr>
              <a:t>: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229600" cy="4425950"/>
          </a:xfrm>
        </p:spPr>
        <p:txBody>
          <a:bodyPr/>
          <a:lstStyle/>
          <a:p>
            <a:pPr eaLnBrk="1" hangingPunct="1"/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Полторак В.П.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Інформаційна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безпека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та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захист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даних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в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комп’ютерних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технологіях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мережах.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Частина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1 : [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Електронний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ресурс] :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навч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.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посіб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. для студ.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Освітньої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програми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«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Інтегровані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інформаційні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системи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»,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спеціальності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126 «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Інформаційні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системи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та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технології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» / КПІ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ім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.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Ігоря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Сікорського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, уклад.: В.П. Полторак. –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Електронні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текстові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дані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(1 файл: 1,9 Мбайт). –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Київ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: КПІ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ім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.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Ігоря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Сікорського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, 2020. – 78 с. 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Розташування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, доступ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вільний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, </a:t>
            </a:r>
            <a:r>
              <a:rPr lang="en-US" sz="1800" dirty="0" err="1" smtClean="0">
                <a:solidFill>
                  <a:srgbClr val="1D6535"/>
                </a:solidFill>
                <a:latin typeface="Comic Sans MS" pitchFamily="66" charset="0"/>
              </a:rPr>
              <a:t>uri</a:t>
            </a:r>
            <a:r>
              <a:rPr lang="en-US" sz="1800" dirty="0" smtClean="0">
                <a:solidFill>
                  <a:srgbClr val="1D6535"/>
                </a:solidFill>
                <a:latin typeface="Comic Sans MS" pitchFamily="66" charset="0"/>
              </a:rPr>
              <a:t> : </a:t>
            </a:r>
            <a:r>
              <a:rPr lang="en-US" sz="1800" dirty="0" smtClean="0">
                <a:solidFill>
                  <a:srgbClr val="1D6535"/>
                </a:solidFill>
                <a:latin typeface="Comic Sans MS" pitchFamily="66" charset="0"/>
                <a:hlinkClick r:id="rId2"/>
              </a:rPr>
              <a:t>https://ela.kpi.ua/handle/123456789/38326</a:t>
            </a:r>
            <a:r>
              <a:rPr lang="uk-UA" sz="1800" dirty="0" smtClean="0">
                <a:solidFill>
                  <a:srgbClr val="1D6535"/>
                </a:solidFill>
                <a:latin typeface="Comic Sans MS" pitchFamily="66" charset="0"/>
              </a:rPr>
              <a:t>  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.</a:t>
            </a:r>
          </a:p>
          <a:p>
            <a:pPr eaLnBrk="1" hangingPunct="1"/>
            <a:endParaRPr lang="ru-RU" sz="1800" dirty="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</a:rPr>
              <a:t>Шнайер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</a:rPr>
              <a:t> Б. Прикладная криптография. Протоколы, алгоритмы, исходные тексты на языке Си. - М.: Изд-во ТРИУМФ, 2002. – 816 с.</a:t>
            </a:r>
          </a:p>
          <a:p>
            <a:pPr eaLnBrk="1" hangingPunct="1"/>
            <a:endParaRPr lang="ru-RU" sz="1800" dirty="0" smtClean="0">
              <a:solidFill>
                <a:srgbClr val="1D6535"/>
              </a:solidFill>
              <a:latin typeface="Comic Sans MS" pitchFamily="66" charset="0"/>
            </a:endParaRPr>
          </a:p>
          <a:p>
            <a:pPr eaLnBrk="1" hangingPunct="1"/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Тилборг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ван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 Х.К.А. Основы </a:t>
            </a:r>
            <a:r>
              <a:rPr lang="ru-RU" sz="1800" dirty="0" err="1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криптологии</a:t>
            </a:r>
            <a:r>
              <a:rPr lang="ru-RU" sz="1800" dirty="0" smtClean="0">
                <a:solidFill>
                  <a:srgbClr val="1D6535"/>
                </a:solidFill>
                <a:latin typeface="Comic Sans MS" pitchFamily="66" charset="0"/>
                <a:cs typeface="Times New Roman" pitchFamily="18" charset="0"/>
              </a:rPr>
              <a:t>. Профессиональное руководство и интерактивный учебник : Пер. с англ. – М.: Мир, 2006. – 471 с., ил.</a:t>
            </a:r>
            <a:endParaRPr lang="ru-RU" sz="1800" dirty="0" smtClean="0">
              <a:latin typeface="Comic Sans MS" pitchFamily="66" charset="0"/>
            </a:endParaRPr>
          </a:p>
          <a:p>
            <a:pPr eaLnBrk="1" hangingPunct="1">
              <a:buFontTx/>
              <a:buNone/>
            </a:pPr>
            <a:endParaRPr lang="uk-UA" sz="3600" dirty="0" smtClean="0">
              <a:solidFill>
                <a:srgbClr val="154B27"/>
              </a:solidFill>
              <a:latin typeface="Comic Sans MS" pitchFamily="66" charset="0"/>
              <a:cs typeface="Times New Roman" pitchFamily="18" charset="0"/>
            </a:endParaRPr>
          </a:p>
        </p:txBody>
      </p:sp>
      <p:grpSp>
        <p:nvGrpSpPr>
          <p:cNvPr id="30727" name="Group 4"/>
          <p:cNvGrpSpPr>
            <a:grpSpLocks/>
          </p:cNvGrpSpPr>
          <p:nvPr/>
        </p:nvGrpSpPr>
        <p:grpSpPr bwMode="auto">
          <a:xfrm>
            <a:off x="250825" y="260350"/>
            <a:ext cx="8064500" cy="1827213"/>
            <a:chOff x="612" y="1525"/>
            <a:chExt cx="4626" cy="1361"/>
          </a:xfrm>
        </p:grpSpPr>
        <p:sp>
          <p:nvSpPr>
            <p:cNvPr id="30728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0729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Дата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48EB02C-E523-4B3E-AF6D-6828D840B6F2}" type="datetime1">
              <a:rPr lang="uk-UA" smtClean="0"/>
              <a:pPr/>
              <a:t>29.01.2026</a:t>
            </a:fld>
            <a:endParaRPr lang="ru-RU" smtClean="0"/>
          </a:p>
        </p:txBody>
      </p:sp>
      <p:sp>
        <p:nvSpPr>
          <p:cNvPr id="31747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339975" y="6245225"/>
            <a:ext cx="4932363" cy="476250"/>
          </a:xfrm>
          <a:noFill/>
        </p:spPr>
        <p:txBody>
          <a:bodyPr/>
          <a:lstStyle/>
          <a:p>
            <a:r>
              <a:rPr lang="ru-RU" smtClean="0"/>
              <a:t>ФІОТ, кафедра ІСТ, к.т.н., доц. Полторак В.П.</a:t>
            </a:r>
          </a:p>
        </p:txBody>
      </p:sp>
      <p:sp>
        <p:nvSpPr>
          <p:cNvPr id="31748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5197DF-3341-447D-894B-D595744A03D2}" type="slidenum">
              <a:rPr lang="ru-RU" smtClean="0"/>
              <a:pPr/>
              <a:t>32</a:t>
            </a:fld>
            <a:endParaRPr lang="ru-RU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576263" y="274638"/>
            <a:ext cx="8110537" cy="1282700"/>
          </a:xfrm>
        </p:spPr>
        <p:txBody>
          <a:bodyPr/>
          <a:lstStyle/>
          <a:p>
            <a:pPr algn="l" eaLnBrk="1" hangingPunct="1"/>
            <a:r>
              <a:rPr lang="ru-RU" sz="3600" smtClean="0">
                <a:solidFill>
                  <a:srgbClr val="154B27"/>
                </a:solidFill>
                <a:latin typeface="Comic Sans MS" pitchFamily="66" charset="0"/>
              </a:rPr>
              <a:t>Скінченне поле Галуа  </a:t>
            </a:r>
            <a:r>
              <a:rPr lang="en-US" sz="3600" smtClean="0">
                <a:solidFill>
                  <a:srgbClr val="154B27"/>
                </a:solidFill>
                <a:latin typeface="Comic Sans MS" pitchFamily="66" charset="0"/>
              </a:rPr>
              <a:t>GF</a:t>
            </a:r>
            <a:r>
              <a:rPr lang="ru-RU" sz="3600" smtClean="0">
                <a:solidFill>
                  <a:srgbClr val="154B27"/>
                </a:solidFill>
                <a:latin typeface="Comic Sans MS" pitchFamily="66" charset="0"/>
              </a:rPr>
              <a:t>(</a:t>
            </a:r>
            <a:r>
              <a:rPr lang="en-US" sz="3600" smtClean="0">
                <a:solidFill>
                  <a:srgbClr val="154B27"/>
                </a:solidFill>
                <a:latin typeface="Comic Sans MS" pitchFamily="66" charset="0"/>
              </a:rPr>
              <a:t>p</a:t>
            </a:r>
            <a:r>
              <a:rPr lang="ru-RU" sz="3600" smtClean="0">
                <a:solidFill>
                  <a:srgbClr val="154B27"/>
                </a:solidFill>
                <a:latin typeface="Comic Sans MS" pitchFamily="66" charset="0"/>
              </a:rPr>
              <a:t>).</a:t>
            </a:r>
          </a:p>
        </p:txBody>
      </p:sp>
      <p:grpSp>
        <p:nvGrpSpPr>
          <p:cNvPr id="31750" name="Group 4"/>
          <p:cNvGrpSpPr>
            <a:grpSpLocks/>
          </p:cNvGrpSpPr>
          <p:nvPr/>
        </p:nvGrpSpPr>
        <p:grpSpPr bwMode="auto">
          <a:xfrm>
            <a:off x="287338" y="333375"/>
            <a:ext cx="8064500" cy="1773238"/>
            <a:chOff x="612" y="1525"/>
            <a:chExt cx="4626" cy="1361"/>
          </a:xfrm>
        </p:grpSpPr>
        <p:sp>
          <p:nvSpPr>
            <p:cNvPr id="31752" name="Line 5"/>
            <p:cNvSpPr>
              <a:spLocks noChangeShapeType="1"/>
            </p:cNvSpPr>
            <p:nvPr/>
          </p:nvSpPr>
          <p:spPr bwMode="auto">
            <a:xfrm>
              <a:off x="612" y="2341"/>
              <a:ext cx="4626" cy="0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31753" name="Line 6"/>
            <p:cNvSpPr>
              <a:spLocks noChangeShapeType="1"/>
            </p:cNvSpPr>
            <p:nvPr/>
          </p:nvSpPr>
          <p:spPr bwMode="auto">
            <a:xfrm>
              <a:off x="612" y="1525"/>
              <a:ext cx="0" cy="1361"/>
            </a:xfrm>
            <a:prstGeom prst="line">
              <a:avLst/>
            </a:prstGeom>
            <a:noFill/>
            <a:ln w="76200" cmpd="tri">
              <a:solidFill>
                <a:srgbClr val="229A28"/>
              </a:solidFill>
              <a:round/>
              <a:headEnd/>
              <a:tailEnd/>
            </a:ln>
          </p:spPr>
          <p:txBody>
            <a:bodyPr/>
            <a:lstStyle/>
            <a:p>
              <a:endParaRPr lang="uk-UA"/>
            </a:p>
          </p:txBody>
        </p:sp>
      </p:grpSp>
      <p:sp>
        <p:nvSpPr>
          <p:cNvPr id="31751" name="Rectangle 423"/>
          <p:cNvSpPr>
            <a:spLocks noChangeArrowheads="1"/>
          </p:cNvSpPr>
          <p:nvPr/>
        </p:nvSpPr>
        <p:spPr bwMode="auto">
          <a:xfrm>
            <a:off x="3132138" y="2997200"/>
            <a:ext cx="24844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sz="3600">
                <a:solidFill>
                  <a:srgbClr val="1D6535"/>
                </a:solidFill>
                <a:latin typeface="Comic Sans MS" pitchFamily="66" charset="0"/>
              </a:rPr>
              <a:t>THE END</a:t>
            </a:r>
            <a:endParaRPr lang="ru-RU" sz="3600">
              <a:solidFill>
                <a:srgbClr val="1D6535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Специальное оформление">
  <a:themeElements>
    <a:clrScheme name="Специальное оформление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пециальное оформление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Специальное оформление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иальное оформление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иальное оформление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иальное оформление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иальное оформление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Специальное оформление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иальное оформление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иальное оформление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иальное оформление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иальное оформление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иальное оформление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Специальное оформление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2568</TotalTime>
  <Words>1934</Words>
  <Application>Microsoft Office PowerPoint</Application>
  <PresentationFormat>Экран (4:3)</PresentationFormat>
  <Paragraphs>380</Paragraphs>
  <Slides>32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34" baseType="lpstr">
      <vt:lpstr>Оформление по умолчанию</vt:lpstr>
      <vt:lpstr>Специальное оформление</vt:lpstr>
      <vt:lpstr>Арифметика на скінченних алфавітах </vt:lpstr>
      <vt:lpstr>Скінченне поле Галуа  GF(p)</vt:lpstr>
      <vt:lpstr>Скінченне поле Галуа  GF(p)</vt:lpstr>
      <vt:lpstr>Скінченне поле Галуа  GF(p).                    Елементи скінченного поля</vt:lpstr>
      <vt:lpstr>Скінченне поле Галуа  GF(p).                     Арифметичні операції</vt:lpstr>
      <vt:lpstr>Скінченне поле Галуа  GF(p).             Форми подання елементів</vt:lpstr>
      <vt:lpstr>Скінченне поле Галуа  GF(p).             Форми подання елементів</vt:lpstr>
      <vt:lpstr>Скінченне поле Галуа  GF(p).             Форми подання елементів</vt:lpstr>
      <vt:lpstr>Скінченне поле Галуа  GF(p).             Форми подання елементів</vt:lpstr>
      <vt:lpstr>Скінченне поле Галуа  GF(p).             Форми подання елементів</vt:lpstr>
      <vt:lpstr>Скінченне поле Галуа  GF(p).                Таблиця циклів для GF(7)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                Арифметичні операції</vt:lpstr>
      <vt:lpstr>Скінченне поле Галуа  GF(p).  Мультиплікативне обернення елемента w</vt:lpstr>
      <vt:lpstr>Скінченне поле Галуа  GF(p).  Мультиплікативне обернення елемента w</vt:lpstr>
      <vt:lpstr>Скінченне поле Галуа  GF(p).  Мультиплікативне обернення елемента w</vt:lpstr>
      <vt:lpstr>Скінченне поле Галуа  GF(p).                   Рекомендовані джерела:</vt:lpstr>
      <vt:lpstr>Скінченне поле Галуа  GF(p).</vt:lpstr>
    </vt:vector>
  </TitlesOfParts>
  <Company>MoBIL GROUP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Admin</dc:creator>
  <cp:lastModifiedBy>Vadym Poltorak</cp:lastModifiedBy>
  <cp:revision>299</cp:revision>
  <dcterms:created xsi:type="dcterms:W3CDTF">2011-07-14T10:30:54Z</dcterms:created>
  <dcterms:modified xsi:type="dcterms:W3CDTF">2026-01-29T17:00:07Z</dcterms:modified>
</cp:coreProperties>
</file>